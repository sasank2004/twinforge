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0F7A62"/>
              </a:solidFill>
              <a:ln w="2794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646-44F7-8240-6FD63B2F1814}"/>
              </c:ext>
            </c:extLst>
          </c:dPt>
          <c:dPt>
            <c:idx val="1"/>
            <c:bubble3D val="0"/>
            <c:spPr>
              <a:solidFill>
                <a:srgbClr val="B07400"/>
              </a:solidFill>
              <a:ln w="2794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646-44F7-8240-6FD63B2F1814}"/>
              </c:ext>
            </c:extLst>
          </c:dPt>
          <c:dPt>
            <c:idx val="2"/>
            <c:bubble3D val="0"/>
            <c:spPr>
              <a:solidFill>
                <a:srgbClr val="3E4C59"/>
              </a:solidFill>
              <a:ln w="2794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5646-44F7-8240-6FD63B2F1814}"/>
              </c:ext>
            </c:extLst>
          </c:dPt>
          <c:cat>
            <c:strRef>
              <c:f>Sheet1!$A$2:$A$4</c:f>
              <c:strCache>
                <c:ptCount val="3"/>
                <c:pt idx="0">
                  <c:v>Instrumented (HIGH)</c:v>
                </c:pt>
                <c:pt idx="1">
                  <c:v>Partial (MED)</c:v>
                </c:pt>
                <c:pt idx="2">
                  <c:v>Manual / dark (LOW)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646-44F7-8240-6FD63B2F1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050" b="1">
              <a:solidFill>
                <a:srgbClr val="554E44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AAD-4231-A0D8-9AD83865DF10}"/>
              </c:ext>
            </c:extLst>
          </c:dPt>
          <c:dPt>
            <c:idx val="1"/>
            <c:invertIfNegative val="1"/>
            <c:bubble3D val="0"/>
            <c:spPr>
              <a:solidFill>
                <a:srgbClr val="6A2C8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AAD-4231-A0D8-9AD83865DF10}"/>
              </c:ext>
            </c:extLst>
          </c:dPt>
          <c:dPt>
            <c:idx val="2"/>
            <c:invertIfNegative val="1"/>
            <c:bubble3D val="0"/>
            <c:spPr>
              <a:solidFill>
                <a:srgbClr val="0F7A6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AAD-4231-A0D8-9AD83865DF10}"/>
              </c:ext>
            </c:extLst>
          </c:dPt>
          <c:dPt>
            <c:idx val="3"/>
            <c:invertIfNegative val="1"/>
            <c:bubble3D val="0"/>
            <c:spPr>
              <a:solidFill>
                <a:srgbClr val="1D3E6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AAD-4231-A0D8-9AD83865DF1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A161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Detector top-1</c:v>
                </c:pt>
                <c:pt idx="1">
                  <c:v>Defect top-1</c:v>
                </c:pt>
                <c:pt idx="2">
                  <c:v>Sparse</c:v>
                </c:pt>
                <c:pt idx="3">
                  <c:v>Forecast T+5</c:v>
                </c:pt>
              </c:strCache>
            </c:strRef>
          </c:cat>
          <c:val>
            <c:numRef>
              <c:f>Sheet1!$B$2:$B$5</c:f>
              <c:numCache>
                <c:formatCode>0"%"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96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AD-4231-A0D8-9AD83865DF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9AF9F"/>
            </a:solidFill>
          </a:ln>
        </c:spPr>
        <c:txPr>
          <a:bodyPr/>
          <a:lstStyle/>
          <a:p>
            <a:pPr>
              <a:defRPr sz="1000" b="1">
                <a:solidFill>
                  <a:srgbClr val="554E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0"/>
        </c:scaling>
        <c:delete val="1"/>
        <c:axPos val="b"/>
        <c:majorGridlines>
          <c:spPr>
            <a:ln>
              <a:solidFill>
                <a:srgbClr val="DDD6CA"/>
              </a:solidFill>
            </a:ln>
          </c:spPr>
        </c:majorGridlines>
        <c:numFmt formatCode="0&quot;%&quot;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7D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120-46CD-9CA9-9A15B9370222}"/>
              </c:ext>
            </c:extLst>
          </c:dPt>
          <c:dPt>
            <c:idx val="1"/>
            <c:invertIfNegative val="1"/>
            <c:bubble3D val="0"/>
            <c:spPr>
              <a:solidFill>
                <a:srgbClr val="3E4C5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120-46CD-9CA9-9A15B937022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A161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Right
station</c:v>
                </c:pt>
                <c:pt idx="1">
                  <c:v>Wrong
station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34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20-46CD-9CA9-9A15B93702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9AF9F"/>
            </a:solidFill>
          </a:ln>
        </c:spPr>
        <c:txPr>
          <a:bodyPr/>
          <a:lstStyle/>
          <a:p>
            <a:pPr>
              <a:defRPr sz="1000" b="1">
                <a:solidFill>
                  <a:srgbClr val="554E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>
              <a:solidFill>
                <a:srgbClr val="DDD6CA"/>
              </a:solidFill>
            </a:ln>
          </c:spPr>
        </c:majorGridlines>
        <c:numFmt formatCode="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ln w="38100">
              <a:solidFill>
                <a:srgbClr val="0F7A62"/>
              </a:solidFill>
            </a:ln>
          </c:spP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289</c:v>
                </c:pt>
                <c:pt idx="1">
                  <c:v>291</c:v>
                </c:pt>
                <c:pt idx="2">
                  <c:v>290</c:v>
                </c:pt>
                <c:pt idx="3">
                  <c:v>292</c:v>
                </c:pt>
                <c:pt idx="4">
                  <c:v>291</c:v>
                </c:pt>
                <c:pt idx="5">
                  <c:v>290</c:v>
                </c:pt>
                <c:pt idx="6">
                  <c:v>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40-4B1F-883F-945D290BBC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Faulted</c:v>
                </c:pt>
              </c:strCache>
            </c:strRef>
          </c:tx>
          <c:spPr>
            <a:ln w="38100">
              <a:solidFill>
                <a:srgbClr val="C0392B"/>
              </a:solidFill>
            </a:ln>
          </c:spP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290</c:v>
                </c:pt>
                <c:pt idx="1">
                  <c:v>291</c:v>
                </c:pt>
                <c:pt idx="2">
                  <c:v>289</c:v>
                </c:pt>
                <c:pt idx="3">
                  <c:v>271</c:v>
                </c:pt>
                <c:pt idx="4">
                  <c:v>252</c:v>
                </c:pt>
                <c:pt idx="5">
                  <c:v>240</c:v>
                </c:pt>
                <c:pt idx="6">
                  <c:v>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40-4B1F-883F-945D290BB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9AF9F"/>
            </a:solidFill>
          </a:ln>
        </c:spPr>
        <c:txPr>
          <a:bodyPr/>
          <a:lstStyle/>
          <a:p>
            <a:pPr>
              <a:defRPr sz="900">
                <a:solidFill>
                  <a:srgbClr val="554E44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DD6C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B9AF9F"/>
            </a:solidFill>
          </a:ln>
        </c:spPr>
        <c:txPr>
          <a:bodyPr/>
          <a:lstStyle/>
          <a:p>
            <a:pPr>
              <a:defRPr sz="900">
                <a:solidFill>
                  <a:srgbClr val="554E44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>
              <a:solidFill>
                <a:srgbClr val="554E44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844-4FEF-A58E-84D4EFD0560D}"/>
              </c:ext>
            </c:extLst>
          </c:dPt>
          <c:dPt>
            <c:idx val="1"/>
            <c:invertIfNegative val="1"/>
            <c:bubble3D val="0"/>
            <c:spPr>
              <a:solidFill>
                <a:srgbClr val="1D3E6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844-4FEF-A58E-84D4EFD0560D}"/>
              </c:ext>
            </c:extLst>
          </c:dPt>
          <c:dPt>
            <c:idx val="2"/>
            <c:invertIfNegative val="1"/>
            <c:bubble3D val="0"/>
            <c:spPr>
              <a:solidFill>
                <a:srgbClr val="0F7A6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844-4FEF-A58E-84D4EFD0560D}"/>
              </c:ext>
            </c:extLst>
          </c:dPt>
          <c:dLbls>
            <c:numFmt formatCode="&quot;$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A161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Throughput</c:v>
                </c:pt>
                <c:pt idx="1">
                  <c:v>Micro-stops</c:v>
                </c:pt>
                <c:pt idx="2">
                  <c:v>Quality</c:v>
                </c:pt>
              </c:strCache>
            </c:strRef>
          </c:cat>
          <c:val>
            <c:numRef>
              <c:f>Sheet1!$B$2:$B$4</c:f>
              <c:numCache>
                <c:formatCode>"$"0.0"M"</c:formatCode>
                <c:ptCount val="3"/>
                <c:pt idx="0">
                  <c:v>5</c:v>
                </c:pt>
                <c:pt idx="1">
                  <c:v>2</c:v>
                </c:pt>
                <c:pt idx="2">
                  <c:v>1.25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44-4FEF-A58E-84D4EFD056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9AF9F"/>
            </a:solidFill>
          </a:ln>
        </c:spPr>
        <c:txPr>
          <a:bodyPr/>
          <a:lstStyle/>
          <a:p>
            <a:pPr>
              <a:defRPr sz="1000" b="1">
                <a:solidFill>
                  <a:srgbClr val="554E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>
              <a:solidFill>
                <a:srgbClr val="DDD6CA"/>
              </a:solidFill>
            </a:ln>
          </c:spPr>
        </c:majorGridlines>
        <c:numFmt formatCode="&quot;$&quot;0.0&quot;M&quot;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C0392B"/>
              </a:solidFill>
              <a:ln w="2794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244-4865-8EA5-D7FE0D13E626}"/>
              </c:ext>
            </c:extLst>
          </c:dPt>
          <c:dPt>
            <c:idx val="1"/>
            <c:bubble3D val="0"/>
            <c:spPr>
              <a:solidFill>
                <a:srgbClr val="1D3E63"/>
              </a:solidFill>
              <a:ln w="2794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244-4865-8EA5-D7FE0D13E626}"/>
              </c:ext>
            </c:extLst>
          </c:dPt>
          <c:dPt>
            <c:idx val="2"/>
            <c:bubble3D val="0"/>
            <c:spPr>
              <a:solidFill>
                <a:srgbClr val="0F7A62"/>
              </a:solidFill>
              <a:ln w="2794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3244-4865-8EA5-D7FE0D13E626}"/>
              </c:ext>
            </c:extLst>
          </c:dPt>
          <c:cat>
            <c:strRef>
              <c:f>Sheet1!$A$2:$A$4</c:f>
              <c:strCache>
                <c:ptCount val="3"/>
                <c:pt idx="0">
                  <c:v>Throughput 55</c:v>
                </c:pt>
                <c:pt idx="1">
                  <c:v>Micro-stops 30</c:v>
                </c:pt>
                <c:pt idx="2">
                  <c:v>Quality 15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244-4865-8EA5-D7FE0D13E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050" b="1">
              <a:solidFill>
                <a:srgbClr val="554E44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1051560"/>
            <a:ext cx="10927079" cy="0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ACCENTURE INNOVATION CHALLENGE 2026 · ROUND 2 · PROBLEM STATEMENT 4 —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1A1611"/>
                </a:solidFill>
                <a:latin typeface="Calibri"/>
              </a:rPr>
              <a:t>TwinForge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95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54E44"/>
                </a:solidFill>
                <a:latin typeface="Calibri"/>
              </a:rPr>
              <a:t>A live digital twin for mixed-model vehicle assembly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554E44"/>
                </a:solidFill>
                <a:latin typeface="Calibri"/>
              </a:rPr>
              <a:t>A live digital twin that </a:t>
            </a:r>
            <a:r>
              <a:rPr sz="1900" b="1">
                <a:solidFill>
                  <a:srgbClr val="C0392B"/>
                </a:solidFill>
                <a:latin typeface="Calibri"/>
              </a:rPr>
              <a:t>simulates</a:t>
            </a:r>
            <a:r>
              <a:rPr sz="1900" b="0">
                <a:solidFill>
                  <a:srgbClr val="554E44"/>
                </a:solidFill>
                <a:latin typeface="Calibri"/>
              </a:rPr>
              <a:t> the line, </a:t>
            </a:r>
            <a:r>
              <a:rPr sz="1900" b="1">
                <a:solidFill>
                  <a:srgbClr val="2E7D32"/>
                </a:solidFill>
                <a:latin typeface="Calibri"/>
              </a:rPr>
              <a:t>forecasts</a:t>
            </a:r>
            <a:r>
              <a:rPr sz="1900" b="0">
                <a:solidFill>
                  <a:srgbClr val="554E44"/>
                </a:solidFill>
                <a:latin typeface="Calibri"/>
              </a:rPr>
              <a:t> the failure, </a:t>
            </a:r>
            <a:r>
              <a:rPr sz="1900" b="1">
                <a:solidFill>
                  <a:srgbClr val="1D3E63"/>
                </a:solidFill>
                <a:latin typeface="Calibri"/>
              </a:rPr>
              <a:t>traces</a:t>
            </a:r>
            <a:r>
              <a:rPr sz="1900" b="0">
                <a:solidFill>
                  <a:srgbClr val="554E44"/>
                </a:solidFill>
                <a:latin typeface="Calibri"/>
              </a:rPr>
              <a:t> the defect, and </a:t>
            </a:r>
            <a:r>
              <a:rPr sz="1900" b="1">
                <a:solidFill>
                  <a:srgbClr val="B07400"/>
                </a:solidFill>
                <a:latin typeface="Calibri"/>
              </a:rPr>
              <a:t>prices</a:t>
            </a:r>
            <a:r>
              <a:rPr sz="1900" b="0">
                <a:solidFill>
                  <a:srgbClr val="554E44"/>
                </a:solidFill>
                <a:latin typeface="Calibri"/>
              </a:rPr>
              <a:t> the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38B7C"/>
                </a:solidFill>
                <a:latin typeface="Consolas"/>
              </a:rPr>
              <a:t>THE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79392"/>
            <a:ext cx="16916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4334255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0392B"/>
                </a:solidFill>
                <a:latin typeface="Consolas"/>
              </a:rPr>
              <a:t>Python 3.12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4279392"/>
            <a:ext cx="16916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7168" y="4334255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D3E63"/>
                </a:solidFill>
                <a:latin typeface="Consolas"/>
              </a:rPr>
              <a:t>Discrete-Event Sim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279392"/>
            <a:ext cx="16916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4334255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7A62"/>
                </a:solidFill>
                <a:latin typeface="Consolas"/>
              </a:rPr>
              <a:t>NumPy · SciPy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279392"/>
            <a:ext cx="16916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6A2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4334255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A2C8F"/>
                </a:solidFill>
                <a:latin typeface="Consolas"/>
              </a:rPr>
              <a:t>scikit-learn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4279392"/>
            <a:ext cx="16916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4334255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B07400"/>
                </a:solidFill>
                <a:latin typeface="Consolas"/>
              </a:rPr>
              <a:t>FastAPI + SSE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02368" y="4279392"/>
            <a:ext cx="16916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02368" y="4334255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E4C59"/>
                </a:solidFill>
                <a:latin typeface="Consolas"/>
              </a:rPr>
              <a:t>Vanilla JS + SVG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92040"/>
            <a:ext cx="2578608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001768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0392B"/>
                </a:solidFill>
                <a:latin typeface="Consolas"/>
              </a:rPr>
              <a:t>01 Telemetry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892040"/>
            <a:ext cx="2578608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1568" y="5001768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7D32"/>
                </a:solidFill>
                <a:latin typeface="Consolas"/>
              </a:rPr>
              <a:t>02 Prevent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4892040"/>
            <a:ext cx="2578608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5001768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D3E63"/>
                </a:solidFill>
                <a:latin typeface="Consolas"/>
              </a:rPr>
              <a:t>03 Diagnose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4892040"/>
            <a:ext cx="2578608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5001768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B07400"/>
                </a:solidFill>
                <a:latin typeface="Consolas"/>
              </a:rPr>
              <a:t>04 Resolve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5943600"/>
            <a:ext cx="10927079" cy="0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54E44"/>
                </a:solidFill>
                <a:latin typeface="Calibri"/>
              </a:rPr>
              <a:t>Team TwinForge · Indian Institute of Technology Madras · github.com/sasank2004/twinforge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THE PROBLEM — AND 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A coupled flow system that fails two ways — dashboards address neither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4E44"/>
                </a:solidFill>
                <a:latin typeface="Calibri"/>
              </a:rPr>
              <a:t>A vehicle line is a coupled flow system: one slow station blocks upstream and starves downstream — the constraint moves </a:t>
            </a:r>
            <a:r>
              <a:rPr sz="1150" b="1">
                <a:solidFill>
                  <a:srgbClr val="1A1611"/>
                </a:solidFill>
                <a:latin typeface="Calibri"/>
              </a:rPr>
              <a:t>~6× a shift</a:t>
            </a:r>
            <a:r>
              <a:rPr sz="1150" b="0">
                <a:solidFill>
                  <a:srgbClr val="554E44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577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dirty="0">
                <a:solidFill>
                  <a:srgbClr val="C0392B"/>
                </a:solidFill>
                <a:latin typeface="Calibri"/>
              </a:rPr>
              <a:t>▪ </a:t>
            </a:r>
            <a:r>
              <a:rPr sz="1100" b="1" dirty="0">
                <a:solidFill>
                  <a:srgbClr val="1A1611"/>
                </a:solidFill>
                <a:latin typeface="Calibri"/>
              </a:rPr>
              <a:t>Bottlenecks are reactive. </a:t>
            </a:r>
            <a:r>
              <a:rPr sz="1100" b="0" dirty="0" err="1">
                <a:solidFill>
                  <a:srgbClr val="554E44"/>
                </a:solidFill>
                <a:latin typeface="Calibri"/>
              </a:rPr>
              <a:t>Utilisation</a:t>
            </a:r>
            <a:r>
              <a:rPr sz="1100" b="0" dirty="0">
                <a:solidFill>
                  <a:srgbClr val="554E44"/>
                </a:solidFill>
                <a:latin typeface="Calibri"/>
              </a:rPr>
              <a:t> ranks a busy station and a genuinely slow one the same — the '</a:t>
            </a:r>
            <a:r>
              <a:rPr sz="1100" b="0" dirty="0" err="1">
                <a:solidFill>
                  <a:srgbClr val="554E44"/>
                </a:solidFill>
                <a:latin typeface="Calibri"/>
              </a:rPr>
              <a:t>utilisation</a:t>
            </a:r>
            <a:r>
              <a:rPr sz="1100" b="0" dirty="0">
                <a:solidFill>
                  <a:srgbClr val="554E44"/>
                </a:solidFill>
                <a:latin typeface="Calibri"/>
              </a:rPr>
              <a:t> trap' — the wrong station, after throughput drops.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dirty="0">
                <a:solidFill>
                  <a:srgbClr val="C0392B"/>
                </a:solidFill>
                <a:latin typeface="Calibri"/>
              </a:rPr>
              <a:t>▪ </a:t>
            </a:r>
            <a:r>
              <a:rPr sz="1100" b="1" dirty="0">
                <a:solidFill>
                  <a:srgbClr val="1A1611"/>
                </a:solidFill>
                <a:latin typeface="Calibri"/>
              </a:rPr>
              <a:t>Defects surface late. </a:t>
            </a:r>
            <a:r>
              <a:rPr sz="1100" b="0" dirty="0">
                <a:solidFill>
                  <a:srgbClr val="554E44"/>
                </a:solidFill>
                <a:latin typeface="Calibri"/>
              </a:rPr>
              <a:t>A drifting tool makes out-of-spec units with NO throughput change — caught dozens of stations later at QA.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dirty="0">
                <a:solidFill>
                  <a:srgbClr val="C0392B"/>
                </a:solidFill>
                <a:latin typeface="Calibri"/>
              </a:rPr>
              <a:t>▪ </a:t>
            </a:r>
            <a:r>
              <a:rPr sz="1100" b="1" dirty="0">
                <a:solidFill>
                  <a:srgbClr val="1A1611"/>
                </a:solidFill>
                <a:latin typeface="Calibri"/>
              </a:rPr>
              <a:t>Coverage is uneven. </a:t>
            </a:r>
            <a:r>
              <a:rPr sz="1100" b="0" dirty="0">
                <a:solidFill>
                  <a:srgbClr val="554E44"/>
                </a:solidFill>
                <a:latin typeface="Calibri"/>
              </a:rPr>
              <a:t>Legacy + modern mix — some richly instrumented, some fully manual (dark).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dirty="0">
                <a:solidFill>
                  <a:srgbClr val="C0392B"/>
                </a:solidFill>
                <a:latin typeface="Calibri"/>
              </a:rPr>
              <a:t>▪ </a:t>
            </a:r>
            <a:r>
              <a:rPr sz="1100" b="1" dirty="0">
                <a:solidFill>
                  <a:srgbClr val="1A1611"/>
                </a:solidFill>
                <a:latin typeface="Calibri"/>
              </a:rPr>
              <a:t>Trust is fragile. </a:t>
            </a:r>
            <a:r>
              <a:rPr sz="1100" b="0" dirty="0">
                <a:solidFill>
                  <a:srgbClr val="554E44"/>
                </a:solidFill>
                <a:latin typeface="Calibri"/>
              </a:rPr>
              <a:t>False alarms erode floor-level trust faster than anything.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74519"/>
            <a:ext cx="53492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9834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onsolas"/>
              </a:rPr>
              <a:t>HOW THE LINE FAILS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87183" y="2907791"/>
            <a:ext cx="630936" cy="0"/>
          </a:xfrm>
          <a:prstGeom prst="line">
            <a:avLst/>
          </a:prstGeom>
          <a:ln w="15240">
            <a:solidFill>
              <a:srgbClr val="B9AF9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38744" y="2907791"/>
            <a:ext cx="630936" cy="0"/>
          </a:xfrm>
          <a:prstGeom prst="line">
            <a:avLst/>
          </a:prstGeom>
          <a:ln w="15240">
            <a:solidFill>
              <a:srgbClr val="B9AF9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90304" y="2907791"/>
            <a:ext cx="630936" cy="0"/>
          </a:xfrm>
          <a:prstGeom prst="line">
            <a:avLst/>
          </a:prstGeom>
          <a:ln w="15240">
            <a:solidFill>
              <a:srgbClr val="B9AF9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341864" y="2907791"/>
            <a:ext cx="630936" cy="0"/>
          </a:xfrm>
          <a:prstGeom prst="line">
            <a:avLst/>
          </a:prstGeom>
          <a:ln w="15240">
            <a:solidFill>
              <a:srgbClr val="B9AF9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76872" y="2441448"/>
            <a:ext cx="4206240" cy="0"/>
          </a:xfrm>
          <a:prstGeom prst="line">
            <a:avLst/>
          </a:prstGeom>
          <a:ln w="19050">
            <a:solidFill>
              <a:srgbClr val="B07400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29400" y="2176272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07400"/>
                </a:solidFill>
                <a:latin typeface="Consolas"/>
              </a:rPr>
              <a:t>defect drifts unseen  →  caught late at QA</a:t>
            </a:r>
          </a:p>
        </p:txBody>
      </p:sp>
      <p:sp>
        <p:nvSpPr>
          <p:cNvPr id="14" name="Oval 13"/>
          <p:cNvSpPr/>
          <p:nvPr/>
        </p:nvSpPr>
        <p:spPr>
          <a:xfrm>
            <a:off x="6766559" y="2697479"/>
            <a:ext cx="420624" cy="420624"/>
          </a:xfrm>
          <a:prstGeom prst="ellipse">
            <a:avLst/>
          </a:prstGeom>
          <a:solidFill>
            <a:srgbClr val="F1E3C6"/>
          </a:solidFill>
          <a:ln w="2159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59" y="2779775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A1611"/>
                </a:solidFill>
                <a:latin typeface="Consolas"/>
              </a:rPr>
              <a:t>S1</a:t>
            </a:r>
          </a:p>
        </p:txBody>
      </p:sp>
      <p:sp>
        <p:nvSpPr>
          <p:cNvPr id="16" name="Oval 15"/>
          <p:cNvSpPr/>
          <p:nvPr/>
        </p:nvSpPr>
        <p:spPr>
          <a:xfrm>
            <a:off x="7818119" y="2697479"/>
            <a:ext cx="420624" cy="42062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19" y="2779775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A1611"/>
                </a:solidFill>
                <a:latin typeface="Consolas"/>
              </a:rPr>
              <a:t>S2</a:t>
            </a:r>
          </a:p>
        </p:txBody>
      </p:sp>
      <p:sp>
        <p:nvSpPr>
          <p:cNvPr id="18" name="Oval 17"/>
          <p:cNvSpPr/>
          <p:nvPr/>
        </p:nvSpPr>
        <p:spPr>
          <a:xfrm>
            <a:off x="8869680" y="2697479"/>
            <a:ext cx="420624" cy="420624"/>
          </a:xfrm>
          <a:prstGeom prst="ellipse">
            <a:avLst/>
          </a:prstGeom>
          <a:solidFill>
            <a:srgbClr val="F2DAD3"/>
          </a:solidFill>
          <a:ln w="2159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779775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A1611"/>
                </a:solidFill>
                <a:latin typeface="Consolas"/>
              </a:rPr>
              <a:t>S3</a:t>
            </a:r>
          </a:p>
        </p:txBody>
      </p:sp>
      <p:sp>
        <p:nvSpPr>
          <p:cNvPr id="20" name="Oval 19"/>
          <p:cNvSpPr/>
          <p:nvPr/>
        </p:nvSpPr>
        <p:spPr>
          <a:xfrm>
            <a:off x="9921240" y="2697479"/>
            <a:ext cx="420624" cy="42062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2779775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A1611"/>
                </a:solidFill>
                <a:latin typeface="Consolas"/>
              </a:rPr>
              <a:t>S4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0" y="2697479"/>
            <a:ext cx="420624" cy="42062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0" y="2779775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A1611"/>
                </a:solidFill>
                <a:latin typeface="Consolas"/>
              </a:rPr>
              <a:t>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3145535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C0392B"/>
                </a:solidFill>
                <a:latin typeface="Consolas"/>
              </a:rPr>
              <a:t>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145535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B07400"/>
                </a:solidFill>
                <a:latin typeface="Consolas"/>
              </a:rPr>
              <a:t>drift origin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79" y="3703320"/>
            <a:ext cx="2286000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79" y="3749039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0392B"/>
                </a:solidFill>
                <a:latin typeface="Consolas"/>
              </a:rPr>
              <a:t>&gt; $2M / hr downtime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703320"/>
            <a:ext cx="2194560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749039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D3E63"/>
                </a:solidFill>
                <a:latin typeface="Consolas"/>
              </a:rPr>
              <a:t>~6× constraint / shift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70832"/>
            <a:ext cx="54864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5166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2E7D32"/>
                </a:solidFill>
                <a:latin typeface="Consolas"/>
              </a:rPr>
              <a:t>PREVENTIVE</a:t>
            </a:r>
            <a:endParaRPr sz="1600" b="0" dirty="0">
              <a:solidFill>
                <a:srgbClr val="1A1611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26480" y="4370832"/>
            <a:ext cx="54864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480560"/>
            <a:ext cx="5166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1D3E63"/>
                </a:solidFill>
                <a:latin typeface="Consolas"/>
              </a:rPr>
              <a:t>DIAGNOSTIC</a:t>
            </a:r>
            <a:endParaRPr sz="1600" b="0" dirty="0">
              <a:solidFill>
                <a:srgbClr val="1A1611"/>
              </a:solidFill>
              <a:latin typeface="Calibri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257800"/>
            <a:ext cx="11064240" cy="0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A1611"/>
                </a:solidFill>
                <a:latin typeface="Calibri"/>
              </a:rPr>
              <a:t>A plant is instrumented for </a:t>
            </a:r>
            <a:r>
              <a:rPr sz="1500" b="1">
                <a:solidFill>
                  <a:srgbClr val="B07400"/>
                </a:solidFill>
                <a:latin typeface="Calibri"/>
              </a:rPr>
              <a:t>utilisation</a:t>
            </a:r>
            <a:r>
              <a:rPr sz="1500" b="1">
                <a:solidFill>
                  <a:srgbClr val="1A1611"/>
                </a:solidFill>
                <a:latin typeface="Calibri"/>
              </a:rPr>
              <a:t> — but utilisation never tells you what is costing you </a:t>
            </a:r>
            <a:r>
              <a:rPr sz="1500" b="1">
                <a:solidFill>
                  <a:srgbClr val="C0392B"/>
                </a:solidFill>
                <a:latin typeface="Calibri"/>
              </a:rPr>
              <a:t>cars</a:t>
            </a:r>
            <a:r>
              <a:rPr sz="1500" b="1">
                <a:solidFill>
                  <a:srgbClr val="1A1611"/>
                </a:solidFill>
                <a:latin typeface="Calibri"/>
              </a:rPr>
              <a:t>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4E44"/>
                </a:solidFill>
                <a:latin typeface="Calibri"/>
              </a:rPr>
              <a:t>We don't mock a dashboard: we simulate the factory, use it as ground truth to train ML, and re-simulate every fix.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7F3215-EF6A-0D3B-3D09-7E436A58CAB3}"/>
              </a:ext>
            </a:extLst>
          </p:cNvPr>
          <p:cNvSpPr txBox="1"/>
          <p:nvPr/>
        </p:nvSpPr>
        <p:spPr>
          <a:xfrm>
            <a:off x="733214" y="4729140"/>
            <a:ext cx="51663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dirty="0">
                <a:solidFill>
                  <a:srgbClr val="1A1611"/>
                </a:solidFill>
                <a:latin typeface="Calibri"/>
              </a:rPr>
              <a:t>forecast the constraint before it bites.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8B9750-AA18-C7E5-5A12-6E7AEF868270}"/>
              </a:ext>
            </a:extLst>
          </p:cNvPr>
          <p:cNvSpPr txBox="1"/>
          <p:nvPr/>
        </p:nvSpPr>
        <p:spPr>
          <a:xfrm>
            <a:off x="6309360" y="4717290"/>
            <a:ext cx="51663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dirty="0">
                <a:solidFill>
                  <a:srgbClr val="1A1611"/>
                </a:solidFill>
                <a:latin typeface="Calibri"/>
              </a:rPr>
              <a:t>trace a late defect to a ranked root cause.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HOW IT WORKS,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One pipeline: pick a factory, simulate it, learn from it, act on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9659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609344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onsolas"/>
              </a:rPr>
              <a:t>1</a:t>
            </a:r>
            <a:r>
              <a:rPr sz="1050" b="1">
                <a:solidFill>
                  <a:srgbClr val="C0392B"/>
                </a:solidFill>
                <a:latin typeface="Consolas"/>
              </a:rPr>
              <a:t>  PROBLEM (PS4)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4E44"/>
                </a:solidFill>
                <a:latin typeface="Calibri"/>
              </a:rPr>
              <a:t>See bottlenecks form ·
predict defects early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2029968"/>
            <a:ext cx="301752" cy="0"/>
          </a:xfrm>
          <a:prstGeom prst="line">
            <a:avLst/>
          </a:prstGeom>
          <a:ln w="2032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16352" y="1508760"/>
            <a:ext cx="19659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1609344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3E63"/>
                </a:solidFill>
                <a:latin typeface="Consolas"/>
              </a:rPr>
              <a:t>2</a:t>
            </a:r>
            <a:r>
              <a:rPr sz="1050" b="1">
                <a:solidFill>
                  <a:srgbClr val="1D3E63"/>
                </a:solidFill>
                <a:latin typeface="Consolas"/>
              </a:rPr>
              <a:t>  FIX A FACTORY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4E44"/>
                </a:solidFill>
                <a:latin typeface="Calibri"/>
              </a:rPr>
              <a:t>9-station DAG · merges,
splits · uneven sensors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82312" y="2029968"/>
            <a:ext cx="301752" cy="0"/>
          </a:xfrm>
          <a:prstGeom prst="line">
            <a:avLst/>
          </a:prstGeom>
          <a:ln w="2032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84064" y="1508760"/>
            <a:ext cx="19659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609344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A62"/>
                </a:solidFill>
                <a:latin typeface="Consolas"/>
              </a:rPr>
              <a:t>3</a:t>
            </a:r>
            <a:r>
              <a:rPr sz="1050" b="1">
                <a:solidFill>
                  <a:srgbClr val="0F7A62"/>
                </a:solidFill>
                <a:latin typeface="Consolas"/>
              </a:rPr>
              <a:t>  SIMULATE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6596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4E44"/>
                </a:solidFill>
                <a:latin typeface="Calibri"/>
              </a:rPr>
              <a:t>per-second DES · CRN ·
real back-pressure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0023" y="2029968"/>
            <a:ext cx="301752" cy="0"/>
          </a:xfrm>
          <a:prstGeom prst="line">
            <a:avLst/>
          </a:prstGeom>
          <a:ln w="2032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51775" y="1508760"/>
            <a:ext cx="19659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61503" y="1609344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07400"/>
                </a:solidFill>
                <a:latin typeface="Consolas"/>
              </a:rPr>
              <a:t>4</a:t>
            </a:r>
            <a:r>
              <a:rPr sz="1050" b="1">
                <a:solidFill>
                  <a:srgbClr val="B07400"/>
                </a:solidFill>
                <a:latin typeface="Consolas"/>
              </a:rPr>
              <a:t>  GROUND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3" y="196596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4E44"/>
                </a:solidFill>
                <a:latin typeface="Calibri"/>
              </a:rPr>
              <a:t>paired counterfactual —
cars a speed-up yields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17736" y="2029968"/>
            <a:ext cx="301752" cy="0"/>
          </a:xfrm>
          <a:prstGeom prst="line">
            <a:avLst/>
          </a:prstGeom>
          <a:ln w="2032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19488" y="1508760"/>
            <a:ext cx="19659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29215" y="1609344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onsolas"/>
              </a:rPr>
              <a:t>5</a:t>
            </a:r>
            <a:r>
              <a:rPr sz="1050" b="1">
                <a:solidFill>
                  <a:srgbClr val="2E7D32"/>
                </a:solidFill>
                <a:latin typeface="Consolas"/>
              </a:rPr>
              <a:t>  TRAIN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9215" y="1965960"/>
            <a:ext cx="17465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4E44"/>
                </a:solidFill>
                <a:latin typeface="Calibri"/>
              </a:rPr>
              <a:t>90-feature multinomial
logit · T+5 forecast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8" y="2560320"/>
            <a:ext cx="0" cy="475488"/>
          </a:xfrm>
          <a:prstGeom prst="line">
            <a:avLst/>
          </a:prstGeom>
          <a:ln w="2286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31720" y="3035808"/>
            <a:ext cx="7498080" cy="0"/>
          </a:xfrm>
          <a:prstGeom prst="line">
            <a:avLst/>
          </a:prstGeom>
          <a:ln w="1778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31720" y="3035808"/>
            <a:ext cx="0" cy="274320"/>
          </a:xfrm>
          <a:prstGeom prst="line">
            <a:avLst/>
          </a:prstGeom>
          <a:ln w="2032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39" y="3310128"/>
            <a:ext cx="35661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1" y="3419856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32"/>
                </a:solidFill>
                <a:latin typeface="Consolas"/>
              </a:rPr>
              <a:t>02 · PREVENT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1" y="3767328"/>
            <a:ext cx="3236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ML forecast — re-score the
trained model on live telemetry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9048" y="3035808"/>
            <a:ext cx="0" cy="274320"/>
          </a:xfrm>
          <a:prstGeom prst="line">
            <a:avLst/>
          </a:prstGeom>
          <a:ln w="2032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315968" y="3310128"/>
            <a:ext cx="35661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3419856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D3E63"/>
                </a:solidFill>
                <a:latin typeface="Consolas"/>
              </a:rPr>
              <a:t>03 · DIAGNOSE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3767328"/>
            <a:ext cx="3236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Backward probability graph —
genealogy × quality telemetry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29800" y="3035808"/>
            <a:ext cx="0" cy="274320"/>
          </a:xfrm>
          <a:prstGeom prst="line">
            <a:avLst/>
          </a:prstGeom>
          <a:ln w="2032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46720" y="3310128"/>
            <a:ext cx="35661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3419856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07400"/>
                </a:solidFill>
                <a:latin typeface="Consolas"/>
              </a:rPr>
              <a:t>04 · RESOLVE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767328"/>
            <a:ext cx="3236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Counterfactual re-simulation —
pure DES, decoupled from ML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4617720"/>
            <a:ext cx="105156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A1611"/>
                </a:solidFill>
                <a:latin typeface="Calibri"/>
              </a:rPr>
              <a:t>Three engines, three techniques — </a:t>
            </a:r>
            <a:r>
              <a:rPr sz="1700" b="1">
                <a:solidFill>
                  <a:srgbClr val="0F7A62"/>
                </a:solidFill>
                <a:latin typeface="Calibri"/>
              </a:rPr>
              <a:t>simulation</a:t>
            </a:r>
            <a:r>
              <a:rPr sz="1700" b="1">
                <a:solidFill>
                  <a:srgbClr val="1A1611"/>
                </a:solidFill>
                <a:latin typeface="Calibri"/>
              </a:rPr>
              <a:t>, </a:t>
            </a:r>
            <a:r>
              <a:rPr sz="1700" b="1">
                <a:solidFill>
                  <a:srgbClr val="1D3E63"/>
                </a:solidFill>
                <a:latin typeface="Calibri"/>
              </a:rPr>
              <a:t>graph algorithms</a:t>
            </a:r>
            <a:r>
              <a:rPr sz="1700" b="1">
                <a:solidFill>
                  <a:srgbClr val="1A1611"/>
                </a:solidFill>
                <a:latin typeface="Calibri"/>
              </a:rPr>
              <a:t>, and </a:t>
            </a:r>
            <a:r>
              <a:rPr sz="1700" b="1">
                <a:solidFill>
                  <a:srgbClr val="2E7D32"/>
                </a:solidFill>
                <a:latin typeface="Calibri"/>
              </a:rPr>
              <a:t>machine learning</a:t>
            </a:r>
            <a:r>
              <a:rPr sz="1700" b="1">
                <a:solidFill>
                  <a:srgbClr val="1A1611"/>
                </a:solidFill>
                <a:latin typeface="Calibri"/>
              </a:rPr>
              <a:t> —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554E44"/>
                </a:solidFill>
                <a:latin typeface="Calibri"/>
              </a:rPr>
              <a:t>on one shared, injectable case. Not a dashboard: a factory that actually runs, and a model that learns from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3E63"/>
                </a:solidFill>
                <a:latin typeface="Consolas"/>
              </a:rPr>
              <a:t>STEP 1 OF 4 · FIX A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A 9-station DAG with merges, splits and heterogeneous sensors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52144" y="2132838"/>
            <a:ext cx="1199692" cy="349758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2132838"/>
            <a:ext cx="1199692" cy="1002639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152144" y="2482596"/>
            <a:ext cx="1199692" cy="466344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52144" y="3135477"/>
            <a:ext cx="1199692" cy="629564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144" y="3765041"/>
            <a:ext cx="1199692" cy="23318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26156" y="2482596"/>
            <a:ext cx="1152144" cy="233172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626156" y="2715768"/>
            <a:ext cx="1152144" cy="1072591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26156" y="3135477"/>
            <a:ext cx="1152144" cy="326441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52620" y="2715768"/>
            <a:ext cx="1009498" cy="349758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52620" y="3065526"/>
            <a:ext cx="1009498" cy="396392"/>
          </a:xfrm>
          <a:prstGeom prst="line">
            <a:avLst/>
          </a:prstGeom>
          <a:ln w="15240">
            <a:solidFill>
              <a:srgbClr val="B9AF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" y="1949957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196824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5112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Framing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2766060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278434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96722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Chassis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" y="3582162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60045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78333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Paint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1836" y="2299715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51836" y="2318003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1836" y="25008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Powertrain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1836" y="2952597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1836" y="297088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1836" y="3153765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Interior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51836" y="3605479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51836" y="3623767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1836" y="3806647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Battery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8300" y="2532888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78300" y="255117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8300" y="273405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Marriage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78300" y="3279038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78300" y="329732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8300" y="348020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Trim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62118" y="2882646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62118" y="290093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onsolas"/>
              </a:rPr>
              <a:t>S9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62118" y="308381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938B7C"/>
                </a:solidFill>
                <a:latin typeface="Calibri"/>
              </a:rPr>
              <a:t>Final/QA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023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8B7C"/>
                </a:solidFill>
                <a:latin typeface="Consolas"/>
              </a:rPr>
              <a:t>navy = quality/defect origin · clay = QA sink · edges = finite buffers (cap 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9834" y="1554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D3E63"/>
                </a:solidFill>
                <a:latin typeface="Consolas"/>
              </a:rPr>
              <a:t>SENSOR COVERAGE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08733"/>
              </p:ext>
            </p:extLst>
          </p:nvPr>
        </p:nvGraphicFramePr>
        <p:xfrm>
          <a:off x="6156954" y="1783080"/>
          <a:ext cx="32461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339834" y="3840480"/>
            <a:ext cx="5760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D3E63"/>
                </a:solidFill>
                <a:latin typeface="Calibri"/>
              </a:rPr>
              <a:t>▪ </a:t>
            </a:r>
            <a:r>
              <a:rPr sz="1150" b="1">
                <a:solidFill>
                  <a:srgbClr val="1A1611"/>
                </a:solidFill>
                <a:latin typeface="Calibri"/>
              </a:rPr>
              <a:t>Takt 12 s → 300 UPH design. </a:t>
            </a:r>
            <a:r>
              <a:rPr sz="1150" b="0">
                <a:solidFill>
                  <a:srgbClr val="554E44"/>
                </a:solidFill>
                <a:latin typeface="Calibri"/>
              </a:rPr>
              <a:t>every unit runs 4 stations on 5 balanced routes; S9 sees all flow.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D3E63"/>
                </a:solidFill>
                <a:latin typeface="Calibri"/>
              </a:rPr>
              <a:t>▪ </a:t>
            </a:r>
            <a:r>
              <a:rPr sz="1150" b="1">
                <a:solidFill>
                  <a:srgbClr val="1A1611"/>
                </a:solidFill>
                <a:latin typeface="Calibri"/>
              </a:rPr>
              <a:t>Utilisation &lt; 1 healthy. </a:t>
            </a:r>
            <a:r>
              <a:rPr sz="1150" b="0">
                <a:solidFill>
                  <a:srgbClr val="554E44"/>
                </a:solidFill>
                <a:latin typeface="Calibri"/>
              </a:rPr>
              <a:t>yet one fault pushes a station over its own limit and propagates.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59" y="5120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D3E63"/>
                </a:solidFill>
                <a:latin typeface="Calibri"/>
              </a:rPr>
              <a:t>Topology is data, not code:</a:t>
            </a:r>
            <a:r>
              <a:rPr sz="1450" b="0">
                <a:solidFill>
                  <a:srgbClr val="1A1611"/>
                </a:solidFill>
                <a:latin typeface="Calibri"/>
              </a:rPr>
              <a:t> stations, routes, buffer sizes and each station's sensor list live in one declarative layout.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4E44"/>
                </a:solidFill>
                <a:latin typeface="Calibri"/>
              </a:rPr>
              <a:t>Point TwinForge at another plant by swapping that graph — the simulator, forecast and diagnosis engines all read it, nothing is re-coded.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7A62"/>
                </a:solidFill>
                <a:latin typeface="Consolas"/>
              </a:rPr>
              <a:t>STEP 2 OF 4 · SIMULATE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A conservation-exact discrete-event engine — including the disruptions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943600" cy="3206375"/>
          </a:xfrm>
          <a:prstGeom prst="rect">
            <a:avLst/>
          </a:prstGeom>
          <a:ln w="15875">
            <a:solidFill>
              <a:srgbClr val="B9AF9F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48640" y="4623695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Inject a case — station, fault, complication, severity — and the whole line responds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417320"/>
            <a:ext cx="49834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F7A62"/>
                </a:solidFill>
                <a:latin typeface="Calibri"/>
              </a:rPr>
              <a:t>▪ </a:t>
            </a:r>
            <a:r>
              <a:rPr sz="1150" b="1">
                <a:solidFill>
                  <a:srgbClr val="1A1611"/>
                </a:solidFill>
                <a:latin typeface="Calibri"/>
              </a:rPr>
              <a:t>Per-second stepper. </a:t>
            </a:r>
            <a:r>
              <a:rPr sz="1150" b="0">
                <a:solidFill>
                  <a:srgbClr val="554E44"/>
                </a:solidFill>
                <a:latin typeface="Calibri"/>
              </a:rPr>
              <a:t>9-station DAG, downstream-first; a unit is created at a source and destroyed at the sink — conservation-exact.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0F7A62"/>
                </a:solidFill>
                <a:latin typeface="Calibri"/>
              </a:rPr>
              <a:t>▪ </a:t>
            </a:r>
            <a:r>
              <a:rPr sz="1150" b="1">
                <a:solidFill>
                  <a:srgbClr val="1A1611"/>
                </a:solidFill>
                <a:latin typeface="Calibri"/>
              </a:rPr>
              <a:t>Real back-pressure. </a:t>
            </a:r>
            <a:r>
              <a:rPr sz="1150" b="0">
                <a:solidFill>
                  <a:srgbClr val="554E44"/>
                </a:solidFill>
                <a:latin typeface="Calibri"/>
              </a:rPr>
              <a:t>finite buffers → a station blocks when downstream is full, starves when inputs are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3246120"/>
            <a:ext cx="49834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4848" y="3328416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7A62"/>
                </a:solidFill>
                <a:latin typeface="Consolas"/>
              </a:rPr>
              <a:t>THE MATHS WE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3639312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• Cycle time ~ </a:t>
            </a:r>
            <a:r>
              <a:rPr sz="1050" b="1">
                <a:solidFill>
                  <a:srgbClr val="1A1611"/>
                </a:solidFill>
                <a:latin typeface="Calibri"/>
              </a:rPr>
              <a:t>lognormal(μ, σ=0.08)</a:t>
            </a:r>
            <a:r>
              <a:rPr sz="1050" b="0">
                <a:solidFill>
                  <a:srgbClr val="554E44"/>
                </a:solidFill>
                <a:latin typeface="Calibri"/>
              </a:rPr>
              <a:t>, noise fixed per (unit, station) → </a:t>
            </a:r>
            <a:r>
              <a:rPr sz="1050" b="1">
                <a:solidFill>
                  <a:srgbClr val="0F7A62"/>
                </a:solidFill>
                <a:latin typeface="Calibri"/>
              </a:rPr>
              <a:t>CRN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• Effective CT = </a:t>
            </a:r>
            <a:r>
              <a:rPr sz="1050" b="1">
                <a:solidFill>
                  <a:srgbClr val="1A1611"/>
                </a:solidFill>
                <a:latin typeface="Calibri"/>
              </a:rPr>
              <a:t>proc ÷ availability</a:t>
            </a:r>
            <a:r>
              <a:rPr sz="1050" b="0">
                <a:solidFill>
                  <a:srgbClr val="554E44"/>
                </a:solidFill>
                <a:latin typeface="Calibri"/>
              </a:rPr>
              <a:t>  · lagged thermal coupling (180 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• Complication signal leads the slowdown over 0.4× the ramp → </a:t>
            </a:r>
            <a:r>
              <a:rPr sz="1050" b="1">
                <a:solidFill>
                  <a:srgbClr val="0F7A62"/>
                </a:solidFill>
                <a:latin typeface="Calibri"/>
              </a:rPr>
              <a:t>leading indicator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54E44"/>
                </a:solidFill>
                <a:latin typeface="Consolas"/>
              </a:rPr>
              <a:t>FAULTS SIMULATED — EACH MAPPED TO A DISTINCT SIGNAL AND A 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66360"/>
            <a:ext cx="11064240" cy="265176"/>
          </a:xfrm>
          <a:prstGeom prst="roundRect">
            <a:avLst>
              <a:gd name="adj" fmla="val 5000"/>
            </a:avLst>
          </a:prstGeom>
          <a:solidFill>
            <a:srgbClr val="0F7A62"/>
          </a:solidFill>
          <a:ln w="1270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239512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239512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Moves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239512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Fix that 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31536"/>
            <a:ext cx="11064240" cy="265176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513832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alibri"/>
              </a:rPr>
              <a:t>Slowdown (ramp/step)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513832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cycle time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513832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add operator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96712"/>
            <a:ext cx="11064240" cy="265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779008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alibri"/>
              </a:rPr>
              <a:t>Outage (station down)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779008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779008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planned stop / reroute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61888"/>
            <a:ext cx="11064240" cy="265176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044184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alibri"/>
              </a:rPr>
              <a:t>Overheating (complication)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044184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temp ↑ then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6044184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cool the machine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227064"/>
            <a:ext cx="11064240" cy="265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309360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alibri"/>
              </a:rPr>
              <a:t>Tool wear (complication)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309360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vibration+current ↑ then 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6309360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service the tool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492240"/>
            <a:ext cx="11064240" cy="265176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574536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alibri"/>
              </a:rPr>
              <a:t>Tool drift (quality)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6574536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spec out — NO flow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6574536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re-calibrate the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07400"/>
                </a:solidFill>
                <a:latin typeface="Consolas"/>
              </a:rPr>
              <a:t>STEP 3 &amp; 4 · GROUND TRUTH, THEN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We label the sim economically — then train ML on those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07400"/>
                </a:solidFill>
                <a:latin typeface="Consolas"/>
              </a:rPr>
              <a:t>③ ECONOMIC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Never label the bottleneck with the detector's own statistic — that scores an </a:t>
            </a:r>
            <a:r>
              <a:rPr sz="1100" b="1">
                <a:solidFill>
                  <a:srgbClr val="C0392B"/>
                </a:solidFill>
                <a:latin typeface="Calibri"/>
              </a:rPr>
              <a:t>identity, not a result</a:t>
            </a:r>
            <a:r>
              <a:rPr sz="1100" b="0">
                <a:solidFill>
                  <a:srgbClr val="554E44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611"/>
                </a:solidFill>
                <a:latin typeface="Calibri"/>
              </a:rPr>
              <a:t>The constraint = the station whose speed-up (to 0.75× cycle time) actually makes more cars, measured by </a:t>
            </a:r>
            <a:r>
              <a:rPr sz="1050" b="1">
                <a:solidFill>
                  <a:srgbClr val="B07400"/>
                </a:solidFill>
                <a:latin typeface="Calibri"/>
              </a:rPr>
              <a:t>re-running the same shift under CRN</a:t>
            </a:r>
            <a:r>
              <a:rPr sz="1050" b="0">
                <a:solidFill>
                  <a:srgbClr val="1A1611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8444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Only knowable offline → labels &amp; scores, never the live loop. Noise floor ≈ 1 car (CRN).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4406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7276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32"/>
                </a:solidFill>
                <a:latin typeface="Consolas"/>
              </a:rPr>
              <a:t>④ THE TRAINED MODEL — PREVENT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01952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611"/>
                </a:solidFill>
                <a:latin typeface="Calibri"/>
              </a:rPr>
              <a:t>Multinomial logistic regression</a:t>
            </a:r>
            <a:r>
              <a:rPr sz="1150" b="0">
                <a:solidFill>
                  <a:srgbClr val="554E44"/>
                </a:solidFill>
                <a:latin typeface="Calibri"/>
              </a:rPr>
              <a:t> · softmax over {NONE, S1…S9}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0749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D32"/>
                </a:solidFill>
                <a:latin typeface="Calibri"/>
              </a:rPr>
              <a:t>▪ </a:t>
            </a:r>
            <a:r>
              <a:rPr sz="1050" b="1">
                <a:solidFill>
                  <a:srgbClr val="1A1611"/>
                </a:solidFill>
                <a:latin typeface="Calibri"/>
              </a:rPr>
              <a:t>StandardScaler → LogisticRegression. </a:t>
            </a:r>
            <a:r>
              <a:rPr sz="1050" b="0">
                <a:solidFill>
                  <a:srgbClr val="554E44"/>
                </a:solidFill>
                <a:latin typeface="Calibri"/>
              </a:rPr>
              <a:t>C=0.5, class_weight balanced (scikit-learn).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D32"/>
                </a:solidFill>
                <a:latin typeface="Calibri"/>
              </a:rPr>
              <a:t>▪ </a:t>
            </a:r>
            <a:r>
              <a:rPr sz="1050" b="1">
                <a:solidFill>
                  <a:srgbClr val="1A1611"/>
                </a:solidFill>
                <a:latin typeface="Calibri"/>
              </a:rPr>
              <a:t>Target = economic constraint at T+5. </a:t>
            </a:r>
            <a:r>
              <a:rPr sz="1050" b="0">
                <a:solidFill>
                  <a:srgbClr val="554E44"/>
                </a:solidFill>
                <a:latin typeface="Calibri"/>
              </a:rPr>
              <a:t>trained on ground truth → a real forecast.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D32"/>
                </a:solidFill>
                <a:latin typeface="Calibri"/>
              </a:rPr>
              <a:t>▪ </a:t>
            </a:r>
            <a:r>
              <a:rPr sz="1050" b="1">
                <a:solidFill>
                  <a:srgbClr val="1A1611"/>
                </a:solidFill>
                <a:latin typeface="Calibri"/>
              </a:rPr>
              <a:t>Split BY RUN. </a:t>
            </a:r>
            <a:r>
              <a:rPr sz="1050" b="0">
                <a:solidFill>
                  <a:srgbClr val="554E44"/>
                </a:solidFill>
                <a:latin typeface="Calibri"/>
              </a:rPr>
              <a:t>128 runs → 5,150 train + 1,250 holdout, no leakage.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54E44"/>
                </a:solidFill>
                <a:latin typeface="Consolas"/>
              </a:rPr>
              <a:t>THE MODEL'S INPUT — 90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E4C59"/>
                </a:solidFill>
                <a:latin typeface="Consolas"/>
              </a:rPr>
              <a:t>× 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onsolas"/>
              </a:rPr>
              <a:t>stations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D6E9E3"/>
          </a:solidFill>
          <a:ln w="1651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7A62"/>
                </a:solidFill>
                <a:latin typeface="Consolas"/>
              </a:rPr>
              <a:t>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24912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D6E9E3"/>
          </a:solidFill>
          <a:ln w="1651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24912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7A62"/>
                </a:solidFill>
                <a:latin typeface="Consolas"/>
              </a:rPr>
              <a:t>starv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75304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D6E9E3"/>
          </a:solidFill>
          <a:ln w="1651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75304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7A62"/>
                </a:solidFill>
                <a:latin typeface="Consolas"/>
              </a:rPr>
              <a:t>block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D6E9E3"/>
          </a:solidFill>
          <a:ln w="1651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25696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7A62"/>
                </a:solidFill>
                <a:latin typeface="Consolas"/>
              </a:rPr>
              <a:t>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76088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F1E3C6"/>
          </a:solidFill>
          <a:ln w="1651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07400"/>
                </a:solidFill>
                <a:latin typeface="Consolas"/>
              </a:rPr>
              <a:t>proc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F1E3C6"/>
          </a:solidFill>
          <a:ln w="1651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07400"/>
                </a:solidFill>
                <a:latin typeface="Consolas"/>
              </a:rPr>
              <a:t>effCT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76872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F1E3C6"/>
          </a:solidFill>
          <a:ln w="1651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872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07400"/>
                </a:solidFill>
                <a:latin typeface="Consolas"/>
              </a:rPr>
              <a:t>queue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27264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F2DAD3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27264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0392B"/>
                </a:solidFill>
                <a:latin typeface="Consolas"/>
              </a:rPr>
              <a:t>curr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77656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F2DAD3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77656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0392B"/>
                </a:solidFill>
                <a:latin typeface="Consolas"/>
              </a:rPr>
              <a:t>vib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28048" y="4526280"/>
            <a:ext cx="749808" cy="566928"/>
          </a:xfrm>
          <a:prstGeom prst="roundRect">
            <a:avLst>
              <a:gd name="adj" fmla="val 5000"/>
            </a:avLst>
          </a:prstGeom>
          <a:solidFill>
            <a:srgbClr val="F2DAD3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28048" y="46908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0392B"/>
                </a:solidFill>
                <a:latin typeface="Consolas"/>
              </a:rPr>
              <a:t>temp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138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F7A62"/>
                </a:solidFill>
                <a:latin typeface="Consolas"/>
              </a:rPr>
              <a:t>flow state (4)</a:t>
            </a:r>
            <a:r>
              <a:rPr sz="900" b="1">
                <a:solidFill>
                  <a:srgbClr val="B07400"/>
                </a:solidFill>
                <a:latin typeface="Consolas"/>
              </a:rPr>
              <a:t>      dynamics (3)</a:t>
            </a:r>
            <a:r>
              <a:rPr sz="900" b="1">
                <a:solidFill>
                  <a:srgbClr val="C0392B"/>
                </a:solidFill>
                <a:latin typeface="Consolas"/>
              </a:rPr>
              <a:t>      sensors (3)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461772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7D32"/>
                </a:solidFill>
                <a:latin typeface="Consolas"/>
              </a:rPr>
              <a:t>= 90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54E44"/>
                </a:solidFill>
                <a:latin typeface="Consolas"/>
              </a:rPr>
              <a:t>→ softmax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59" y="55321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A1611"/>
                </a:solidFill>
                <a:latin typeface="Calibri"/>
              </a:rPr>
              <a:t>The twilight between simulation and ML: </a:t>
            </a:r>
            <a:r>
              <a:rPr sz="1350" b="0">
                <a:solidFill>
                  <a:srgbClr val="554E44"/>
                </a:solidFill>
                <a:latin typeface="Calibri"/>
              </a:rPr>
              <a:t>the simulation manufactures its own labelled training data, and the model learns to see the failure coming.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Four purpose-built workspaces over one injectable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03504" cy="603504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onsolas"/>
              </a:rPr>
              <a:t>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84831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611"/>
                </a:solidFill>
                <a:latin typeface="Calibri"/>
              </a:rPr>
              <a:t>Read the living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Grafana-style: animated flow graph, expected-vs-actual, heterogeneous sensors, drill-down.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3368" y="1755648"/>
            <a:ext cx="603504" cy="603504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373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7D32"/>
                </a:solidFill>
                <a:latin typeface="Consolas"/>
              </a:rPr>
              <a:t>PREVENT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084831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611"/>
                </a:solidFill>
                <a:latin typeface="Calibri"/>
              </a:rPr>
              <a:t>Forecast &amp; fix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9572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ML flags a station at T+5 — test a fix by re-scoring the model. Pre-failure.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3355848"/>
            <a:ext cx="603504" cy="603504"/>
          </a:xfrm>
          <a:prstGeom prst="roundRect">
            <a:avLst>
              <a:gd name="adj" fmla="val 5000"/>
            </a:avLst>
          </a:prstGeom>
          <a:solidFill>
            <a:srgbClr val="1D3E63"/>
          </a:solidFill>
          <a:ln w="1270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465576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3375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3E63"/>
                </a:solidFill>
                <a:latin typeface="Consolas"/>
              </a:rPr>
              <a:t>DIAGNOSE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8503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611"/>
                </a:solidFill>
                <a:latin typeface="Calibri"/>
              </a:rPr>
              <a:t>Trace a late defect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9592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No flow signature; a backward probability graph attributes it to producer + handlers.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1546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73368" y="3355848"/>
            <a:ext cx="603504" cy="603504"/>
          </a:xfrm>
          <a:prstGeom prst="roundRect">
            <a:avLst>
              <a:gd name="adj" fmla="val 5000"/>
            </a:avLst>
          </a:prstGeom>
          <a:solidFill>
            <a:srgbClr val="B07400"/>
          </a:solidFill>
          <a:ln w="1270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465576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375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07400"/>
                </a:solidFill>
                <a:latin typeface="Consolas"/>
              </a:rPr>
              <a:t>RESOLVE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68503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611"/>
                </a:solidFill>
                <a:latin typeface="Calibri"/>
              </a:rPr>
              <a:t>Re-simulate the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99592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Real counterfactual under identical draws; cars gained measured, not asserted.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89204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A1611"/>
                </a:solidFill>
                <a:latin typeface="Calibri"/>
              </a:rPr>
              <a:t>One shared, injectable case drives all four views — inject S4 · slowdown once and it flows to every workspace.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54E44"/>
                </a:solidFill>
                <a:latin typeface="Calibri"/>
              </a:rPr>
              <a:t>Different tools, one source of truth — the way a professional IDE gives you many views of one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01 ·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Read the living line — expected vs actual, live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132320" cy="3865379"/>
          </a:xfrm>
          <a:prstGeom prst="rect">
            <a:avLst/>
          </a:prstGeom>
          <a:ln w="15875">
            <a:solidFill>
              <a:srgbClr val="B9AF9F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48640" y="5337562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Animated DAG + per-station expected-vs-actual + T+5 forecast bars — streamed live over Server-Sent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76472" cy="38653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8431" y="15179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392B"/>
                </a:solidFill>
                <a:latin typeface="Consolas"/>
              </a:rP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1874519"/>
            <a:ext cx="35204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C0392B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Live over SSE. </a:t>
            </a:r>
            <a:r>
              <a:rPr sz="1080" b="0">
                <a:solidFill>
                  <a:srgbClr val="554E44"/>
                </a:solidFill>
                <a:latin typeface="Calibri"/>
              </a:rPr>
              <a:t>state, WIP, buffer occupancy pushed every tick.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C0392B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Expected vs actual. </a:t>
            </a:r>
            <a:r>
              <a:rPr sz="1080" b="0">
                <a:solidFill>
                  <a:srgbClr val="554E44"/>
                </a:solidFill>
                <a:latin typeface="Calibri"/>
              </a:rPr>
              <a:t>throughput &amp; cycle time per station, side by side.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C0392B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Heterogeneous sensors. </a:t>
            </a:r>
            <a:r>
              <a:rPr sz="1080" b="0">
                <a:solidFill>
                  <a:srgbClr val="554E44"/>
                </a:solidFill>
                <a:latin typeface="Calibri"/>
              </a:rPr>
              <a:t>only the channels a station physically has; manual stations dark.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C0392B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Provenance. </a:t>
            </a:r>
            <a:r>
              <a:rPr sz="1080" b="0">
                <a:solidFill>
                  <a:srgbClr val="554E44"/>
                </a:solidFill>
                <a:latin typeface="Calibri"/>
              </a:rPr>
              <a:t>every value tagged measured or inferred; click a node to drill in.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28431" y="3703320"/>
            <a:ext cx="3447288" cy="0"/>
          </a:xfrm>
          <a:prstGeom prst="line">
            <a:avLst/>
          </a:prstGeom>
          <a:ln w="12700">
            <a:solidFill>
              <a:srgbClr val="DDD6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28431" y="3785615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0392B"/>
                </a:solidFill>
                <a:latin typeface="Consolas"/>
              </a:rPr>
              <a:t>LIVE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4114800"/>
            <a:ext cx="164592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59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onsolas"/>
              </a:rPr>
              <a:t>258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4434840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554E44"/>
                </a:solidFill>
                <a:latin typeface="Consolas"/>
              </a:rPr>
              <a:t>UPH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11511" y="4114800"/>
            <a:ext cx="164592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21239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3E63"/>
                </a:solidFill>
                <a:latin typeface="Consola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39" y="4434840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554E44"/>
                </a:solidFill>
                <a:latin typeface="Consolas"/>
              </a:rPr>
              <a:t>WIP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663440"/>
            <a:ext cx="164592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59" y="4709159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07400"/>
                </a:solidFill>
                <a:latin typeface="Consolas"/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4983479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554E44"/>
                </a:solidFill>
                <a:latin typeface="Consolas"/>
              </a:rPr>
              <a:t>CONSTRAINT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1511" y="4663440"/>
            <a:ext cx="164592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39" y="4709159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7A62"/>
                </a:solidFill>
                <a:latin typeface="Consolas"/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39" y="4983479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554E44"/>
                </a:solidFill>
                <a:latin typeface="Consolas"/>
              </a:rPr>
              <a:t>HOLDOUT ACC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598932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A1611"/>
                </a:solidFill>
                <a:latin typeface="Calibri"/>
              </a:rPr>
              <a:t>A real simulation state, not a canned animation — </a:t>
            </a:r>
            <a:r>
              <a:rPr sz="1300" b="0">
                <a:solidFill>
                  <a:srgbClr val="554E44"/>
                </a:solidFill>
                <a:latin typeface="Calibri"/>
              </a:rPr>
              <a:t>throughput, WIP and the T+5 forecast, all computed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Consolas"/>
              </a:rPr>
              <a:t>02 · PREVENT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Catch the constraint before it forms — ML sensitivity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132320" cy="3860853"/>
          </a:xfrm>
          <a:prstGeom prst="rect">
            <a:avLst/>
          </a:prstGeom>
          <a:ln w="15875">
            <a:solidFill>
              <a:srgbClr val="B9AF9F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48640" y="5333036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Predicted risk at T+5 while the line is still healthy; test a fix and the same model is re-scored on perturbed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76472" cy="386085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8431" y="15179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32"/>
                </a:solidFill>
                <a:latin typeface="Consolas"/>
              </a:rP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1874519"/>
            <a:ext cx="35204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2E7D32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Multinomial logistic regression. </a:t>
            </a:r>
            <a:r>
              <a:rPr sz="1080" b="0">
                <a:solidFill>
                  <a:srgbClr val="554E44"/>
                </a:solidFill>
                <a:latin typeface="Calibri"/>
              </a:rPr>
              <a:t>90 features, trained on economic ground truth.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2E7D32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Sensitivity, not a sim. </a:t>
            </a:r>
            <a:r>
              <a:rPr sz="1080" b="0">
                <a:solidFill>
                  <a:srgbClr val="554E44"/>
                </a:solidFill>
                <a:latin typeface="Calibri"/>
              </a:rPr>
              <a:t>perturb telemetry → re-score in milliseconds.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2E7D32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Coherent by cause. </a:t>
            </a:r>
            <a:r>
              <a:rPr sz="1080" b="0">
                <a:solidFill>
                  <a:srgbClr val="554E44"/>
                </a:solidFill>
                <a:latin typeface="Calibri"/>
              </a:rPr>
              <a:t>cooling helps overheating (60%→33%), not a busy station.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2E7D32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Sensor-gated. </a:t>
            </a:r>
            <a:r>
              <a:rPr sz="1080" b="0">
                <a:solidFill>
                  <a:srgbClr val="554E44"/>
                </a:solidFill>
                <a:latin typeface="Calibri"/>
              </a:rPr>
              <a:t>an action only shows where the station has that sensor.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28431" y="3703320"/>
            <a:ext cx="3447288" cy="0"/>
          </a:xfrm>
          <a:prstGeom prst="line">
            <a:avLst/>
          </a:prstGeom>
          <a:ln w="12700">
            <a:solidFill>
              <a:srgbClr val="DDD6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28431" y="3785615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D32"/>
                </a:solidFill>
                <a:latin typeface="Consolas"/>
              </a:rPr>
              <a:t>PREDICTED RISK · S3 AT T+5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4178807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onsolas"/>
              </a:rPr>
              <a:t>Do nothing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8552" y="4187952"/>
            <a:ext cx="1965960" cy="164592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88552" y="4187952"/>
            <a:ext cx="1179576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09376" y="4178807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onsolas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449884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onsolas"/>
              </a:rPr>
              <a:t>Cool m/c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4507992"/>
            <a:ext cx="1965960" cy="164592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88552" y="4507992"/>
            <a:ext cx="648766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09376" y="449884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D32"/>
                </a:solidFill>
                <a:latin typeface="Consolas"/>
              </a:rPr>
              <a:t>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846320"/>
            <a:ext cx="3447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−28% risk — coherent, sensor-gated fix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598932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A1611"/>
                </a:solidFill>
                <a:latin typeface="Calibri"/>
              </a:rPr>
              <a:t>The fix only helps if its fault is present — </a:t>
            </a:r>
            <a:r>
              <a:rPr sz="1300" b="0">
                <a:solidFill>
                  <a:srgbClr val="554E44"/>
                </a:solidFill>
                <a:latin typeface="Calibri"/>
              </a:rPr>
              <a:t>cooling a mechanical slowdown is a no-op, by construction.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3E63"/>
                </a:solidFill>
                <a:latin typeface="Consolas"/>
              </a:rPr>
              <a:t>03 · DIAGNOSE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Trace a defect with no flow signature — its own engine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132320" cy="3831288"/>
          </a:xfrm>
          <a:prstGeom prst="rect">
            <a:avLst/>
          </a:prstGeom>
          <a:ln w="15875">
            <a:solidFill>
              <a:srgbClr val="B9AF9F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48640" y="5303471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A QA reject has zero throughput signature; a backward probability graph distributes blame over producer + downstream handlers.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76472" cy="3831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8431" y="15179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D3E63"/>
                </a:solidFill>
                <a:latin typeface="Consolas"/>
              </a:rP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1874519"/>
            <a:ext cx="35204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1D3E63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Backward graph. </a:t>
            </a:r>
            <a:r>
              <a:rPr sz="1080" b="0">
                <a:solidFill>
                  <a:srgbClr val="554E44"/>
                </a:solidFill>
                <a:latin typeface="Calibri"/>
              </a:rPr>
              <a:t>candidates = the producer plus stations that later handled the part.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1D3E63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Genealogy × telemetry. </a:t>
            </a:r>
            <a:r>
              <a:rPr sz="1080" b="0">
                <a:solidFill>
                  <a:srgbClr val="554E44"/>
                </a:solidFill>
                <a:latin typeface="Calibri"/>
              </a:rPr>
              <a:t>which stations the bad units share × which tool is out of spec.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1D3E63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Tempered posterior. </a:t>
            </a:r>
            <a:r>
              <a:rPr sz="1080" b="0">
                <a:solidFill>
                  <a:srgbClr val="554E44"/>
                </a:solidFill>
                <a:latin typeface="Calibri"/>
              </a:rPr>
              <a:t>softmax (γ=0.55) → 79% / 16% / 5%, never a false 98%.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1D3E63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Containment. </a:t>
            </a:r>
            <a:r>
              <a:rPr sz="1080" b="0">
                <a:solidFill>
                  <a:srgbClr val="554E44"/>
                </a:solidFill>
                <a:latin typeface="Calibri"/>
              </a:rPr>
              <a:t>every VIN built on the suspect since it drifted.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28431" y="3703320"/>
            <a:ext cx="3447288" cy="0"/>
          </a:xfrm>
          <a:prstGeom prst="line">
            <a:avLst/>
          </a:prstGeom>
          <a:ln w="12700">
            <a:solidFill>
              <a:srgbClr val="DDD6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28431" y="3785615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D3E63"/>
                </a:solidFill>
                <a:latin typeface="Consolas"/>
              </a:rPr>
              <a:t>ROOT-CAUSE POSTERIOR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4151375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onsolas"/>
              </a:rPr>
              <a:t>S4 prod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8552" y="4160520"/>
            <a:ext cx="1965960" cy="164592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88552" y="4160520"/>
            <a:ext cx="1553108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09376" y="4151375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onsolas"/>
              </a:rPr>
              <a:t>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4453127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onsolas"/>
              </a:rPr>
              <a:t>S7 hand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4462272"/>
            <a:ext cx="1965960" cy="164592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88552" y="4462272"/>
            <a:ext cx="314553" cy="164592"/>
          </a:xfrm>
          <a:prstGeom prst="rect">
            <a:avLst/>
          </a:prstGeom>
          <a:solidFill>
            <a:srgbClr val="1D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09376" y="4453127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D3E63"/>
                </a:solidFill>
                <a:latin typeface="Consolas"/>
              </a:rPr>
              <a:t>16%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754879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onsolas"/>
              </a:rPr>
              <a:t>S8 hand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8552" y="4764024"/>
            <a:ext cx="1965960" cy="164592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4764024"/>
            <a:ext cx="98298" cy="164592"/>
          </a:xfrm>
          <a:prstGeom prst="rect">
            <a:avLst/>
          </a:prstGeom>
          <a:solidFill>
            <a:srgbClr val="3E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09376" y="4754879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E4C59"/>
                </a:solidFill>
                <a:latin typeface="Consolas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4992624"/>
            <a:ext cx="34472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54E44"/>
                </a:solidFill>
                <a:latin typeface="Calibri"/>
              </a:rPr>
              <a:t>tempered softmax · producer + handlers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598932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A1611"/>
                </a:solidFill>
                <a:latin typeface="Calibri"/>
              </a:rPr>
              <a:t>A drifting tool makes bad parts with no slowdown — </a:t>
            </a:r>
            <a:r>
              <a:rPr sz="1300" b="0">
                <a:solidFill>
                  <a:srgbClr val="554E44"/>
                </a:solidFill>
                <a:latin typeface="Calibri"/>
              </a:rPr>
              <a:t>a bottleneck detector is blind, so we use a graph, not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07400"/>
                </a:solidFill>
                <a:latin typeface="Consolas"/>
              </a:rPr>
              <a:t>04 · RESOLVE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Price the fix with a real counterfactual — no ML</a:t>
            </a:r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132320" cy="3847944"/>
          </a:xfrm>
          <a:prstGeom prst="rect">
            <a:avLst/>
          </a:prstGeom>
          <a:ln w="15875">
            <a:solidFill>
              <a:srgbClr val="B9AF9F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48640" y="5320127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When a bottleneck has formed, re-simulate the line with the fix applied; cars-gained is measured against the paired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76472" cy="3847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8431" y="15179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07400"/>
                </a:solidFill>
                <a:latin typeface="Consolas"/>
              </a:rP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1874519"/>
            <a:ext cx="35204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B07400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Two simulations, stacked. </a:t>
            </a:r>
            <a:r>
              <a:rPr sz="1080" b="0">
                <a:solidFill>
                  <a:srgbClr val="554E44"/>
                </a:solidFill>
                <a:latin typeface="Calibri"/>
              </a:rPr>
              <a:t>base run, then a counterfactual run with the fix — identical CRN draws.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B07400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Cars measured, not asserted. </a:t>
            </a:r>
            <a:r>
              <a:rPr sz="1080" b="0">
                <a:solidFill>
                  <a:srgbClr val="554E44"/>
                </a:solidFill>
                <a:latin typeface="Calibri"/>
              </a:rPr>
              <a:t>de-bottleneck the true constraint → +34; the wrong one → +1.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B07400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Decoupled from ML. </a:t>
            </a:r>
            <a:r>
              <a:rPr sz="1080" b="0">
                <a:solidFill>
                  <a:srgbClr val="554E44"/>
                </a:solidFill>
                <a:latin typeface="Calibri"/>
              </a:rPr>
              <a:t>pure discrete-event simulation, the physics engine only.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B07400"/>
                </a:solidFill>
                <a:latin typeface="Calibri"/>
              </a:rPr>
              <a:t>▪ </a:t>
            </a:r>
            <a:r>
              <a:rPr sz="1080" b="1">
                <a:solidFill>
                  <a:srgbClr val="1A1611"/>
                </a:solidFill>
                <a:latin typeface="Calibri"/>
              </a:rPr>
              <a:t>Free levers too. </a:t>
            </a:r>
            <a:r>
              <a:rPr sz="1080" b="0">
                <a:solidFill>
                  <a:srgbClr val="554E44"/>
                </a:solidFill>
                <a:latin typeface="Calibri"/>
              </a:rPr>
              <a:t>'do nothing' and 'reduce release rate' (CONWIP).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28431" y="3703320"/>
            <a:ext cx="3447288" cy="0"/>
          </a:xfrm>
          <a:prstGeom prst="line">
            <a:avLst/>
          </a:prstGeom>
          <a:ln w="12700">
            <a:solidFill>
              <a:srgbClr val="DDD6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28431" y="3785615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B07400"/>
                </a:solidFill>
                <a:latin typeface="Consolas"/>
              </a:rPr>
              <a:t>CARS RECOVERED — RIGHT vs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4178807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onsolas"/>
              </a:rPr>
              <a:t>Right 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8552" y="4187952"/>
            <a:ext cx="1965960" cy="164592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88552" y="4187952"/>
            <a:ext cx="1965960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09376" y="4178807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D32"/>
                </a:solidFill>
                <a:latin typeface="Consolas"/>
              </a:rPr>
              <a:t>+34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449884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611"/>
                </a:solidFill>
                <a:latin typeface="Consolas"/>
              </a:rPr>
              <a:t>Wrong fix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4507992"/>
            <a:ext cx="1965960" cy="164592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88552" y="4507992"/>
            <a:ext cx="58978" cy="164592"/>
          </a:xfrm>
          <a:prstGeom prst="rect">
            <a:avLst/>
          </a:prstGeom>
          <a:solidFill>
            <a:srgbClr val="3E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09376" y="449884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E4C59"/>
                </a:solidFill>
                <a:latin typeface="Consolas"/>
              </a:rPr>
              <a:t>+1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846320"/>
            <a:ext cx="3447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197 → 200 in-window · measured, not asserted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598932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A1611"/>
                </a:solidFill>
                <a:latin typeface="Calibri"/>
              </a:rPr>
              <a:t>Prevent predicts; Resolve measures — </a:t>
            </a:r>
            <a:r>
              <a:rPr sz="1300" b="0">
                <a:solidFill>
                  <a:srgbClr val="554E44"/>
                </a:solidFill>
                <a:latin typeface="Calibri"/>
              </a:rPr>
              <a:t>a second simulation stacked on the base run, under identical draws.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E4C59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Three systems working together — and the honest split of 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554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392B"/>
                </a:solidFill>
                <a:latin typeface="Consolas"/>
              </a:rPr>
              <a:t>DES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385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9-station DAG · CRN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96896" y="1920240"/>
            <a:ext cx="164592" cy="0"/>
          </a:xfrm>
          <a:prstGeom prst="line">
            <a:avLst/>
          </a:prstGeom>
          <a:ln w="1778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1463040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1554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07400"/>
                </a:solidFill>
                <a:latin typeface="Consolas"/>
              </a:rPr>
              <a:t>ECON. GROUND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9385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paired counterfactual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9744" y="1920240"/>
            <a:ext cx="164592" cy="0"/>
          </a:xfrm>
          <a:prstGeom prst="line">
            <a:avLst/>
          </a:prstGeom>
          <a:ln w="1778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74336" y="1463040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3207" y="1554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7A62"/>
                </a:solidFill>
                <a:latin typeface="Consolas"/>
              </a:rPr>
              <a:t>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385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detect·forecast·diagnose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22592" y="1920240"/>
            <a:ext cx="164591" cy="0"/>
          </a:xfrm>
          <a:prstGeom prst="line">
            <a:avLst/>
          </a:prstGeom>
          <a:ln w="1778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87183" y="1463040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06055" y="1554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D3E63"/>
                </a:solidFill>
                <a:latin typeface="Consolas"/>
              </a:rPr>
              <a:t>LIVE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5" y="19385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ingest→emit · drift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1920240"/>
            <a:ext cx="164592" cy="0"/>
          </a:xfrm>
          <a:prstGeom prst="line">
            <a:avLst/>
          </a:prstGeom>
          <a:ln w="1778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00032" y="1463040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18904" y="1554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E4C59"/>
                </a:solidFill>
                <a:latin typeface="Consolas"/>
              </a:rPr>
              <a:t>FASTAPI + SSE →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19385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54E44"/>
                </a:solidFill>
                <a:latin typeface="Calibri"/>
              </a:rPr>
              <a:t>vanilla JS + SVG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06040"/>
            <a:ext cx="110642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272491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Consolas"/>
              </a:rPr>
              <a:t>DON'T TRAIN WHAT YOU CAN COMPUTE — TRAIN WHERE ML EARNS ITS PLACE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063240"/>
            <a:ext cx="10607040" cy="338328"/>
          </a:xfrm>
          <a:prstGeom prst="roundRect">
            <a:avLst>
              <a:gd name="adj" fmla="val 5000"/>
            </a:avLst>
          </a:prstGeom>
          <a:solidFill>
            <a:srgbClr val="3E4C59"/>
          </a:solidFill>
          <a:ln w="1270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136392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Capability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136392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136392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401568"/>
            <a:ext cx="10607040" cy="33832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483864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611"/>
                </a:solidFill>
                <a:latin typeface="Calibri"/>
              </a:rPr>
              <a:t>Locate the current bottleneck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483864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Effective cycle time ÷ availability + blocked/starved walk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483864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Arithmetic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739896"/>
            <a:ext cx="10607040" cy="338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822191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611"/>
                </a:solidFill>
                <a:latin typeface="Calibri"/>
              </a:rPr>
              <a:t>Economic ground truth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822191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Paired counterfactual re-sim (cars a speed-up yields)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822191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Measured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078224"/>
            <a:ext cx="10607040" cy="33832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160520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611"/>
                </a:solidFill>
                <a:latin typeface="Calibri"/>
              </a:rPr>
              <a:t>Forecast the T+5 constraint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160520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Multinomial logistic regression · 90 features · balanced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16052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ML (trained)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416552"/>
            <a:ext cx="10607040" cy="338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4498848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611"/>
                </a:solidFill>
                <a:latin typeface="Calibri"/>
              </a:rPr>
              <a:t>Attribute a late defect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498848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Genealogy lift × quality telemetry · tempered softmax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498848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Inference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754880"/>
            <a:ext cx="10607040" cy="33832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837176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611"/>
                </a:solidFill>
                <a:latin typeface="Calibri"/>
              </a:rPr>
              <a:t>Price a fix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837176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CRN paired discrete-event re-simulation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837176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4E44"/>
                </a:solidFill>
                <a:latin typeface="Calibri"/>
              </a:rPr>
              <a:t>Simulation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2578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38B7C"/>
                </a:solidFill>
                <a:latin typeface="Consolas"/>
              </a:rPr>
              <a:t>FULL STACK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Python 3.12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47672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947672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NumPy · SciPy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46704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46704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pandas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45736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45736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scikit-learn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44768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FastAPI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43800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43800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Server-Sent Events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2832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42832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Vanilla JS + SVG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41864" y="5532120"/>
            <a:ext cx="1298448" cy="384048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341864" y="561441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611"/>
                </a:solidFill>
                <a:latin typeface="Consolas"/>
              </a:rPr>
              <a:t>pytest (10/10)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VALIDATION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Reproducible bit-for-bit from fixed seeds — the mechanism is proven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08483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591056"/>
            <a:ext cx="18105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C0392B"/>
                </a:solidFill>
                <a:latin typeface="Consolas"/>
              </a:rPr>
              <a:t>1.00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011680"/>
            <a:ext cx="181051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DETECTOR TOP-1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9776" y="1463040"/>
            <a:ext cx="208483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591056"/>
            <a:ext cx="18105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E7D32"/>
                </a:solidFill>
                <a:latin typeface="Consolas"/>
              </a:rPr>
              <a:t>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81051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REGRET (CARS)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0912" y="1463040"/>
            <a:ext cx="208483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57216" y="1591056"/>
            <a:ext cx="18105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D3E63"/>
                </a:solidFill>
                <a:latin typeface="Consolas"/>
              </a:rPr>
              <a:t>~90%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011680"/>
            <a:ext cx="181051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FORECAST T+5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1463040"/>
            <a:ext cx="208483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8352" y="1591056"/>
            <a:ext cx="18105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F7A62"/>
                </a:solidFill>
                <a:latin typeface="Consolas"/>
              </a:rP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011680"/>
            <a:ext cx="181051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SPARSE-SENSING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1463040"/>
            <a:ext cx="208483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19488" y="1591056"/>
            <a:ext cx="18105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B07400"/>
                </a:solidFill>
                <a:latin typeface="Consolas"/>
              </a:rPr>
              <a:t>~1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2011680"/>
            <a:ext cx="181051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NOISE FLOOR (CARS)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5176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onsolas"/>
              </a:rPr>
              <a:t>MODEL QUALITY (%)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11480" y="2926080"/>
          <a:ext cx="38862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26280" y="26517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onsolas"/>
              </a:rPr>
              <a:t>CARS RECOVERED — FIX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434840" y="2926080"/>
          <a:ext cx="30632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726679" y="26517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onsolas"/>
              </a:rPr>
              <a:t>THROUGHPUT — HEALTHY vs S4 (UPH)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635240" y="2926080"/>
          <a:ext cx="40690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2700">
            <a:solidFill>
              <a:srgbClr val="DDD6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907024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54E44"/>
                </a:solidFill>
                <a:latin typeface="Calibri"/>
              </a:rPr>
              <a:t>128 simulated shifts · 6,400 windowed samples split by run · every defect origin diagnosed with the true culprit ranked #1 · 10/10 invariant tests pass.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Illustrative, model-based value per line — payback in under six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15184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591056"/>
            <a:ext cx="23408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Consolas"/>
              </a:rPr>
              <a:t>$4.5–12M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057400"/>
            <a:ext cx="234086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VALUE / LINE / YR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6704" y="1463040"/>
            <a:ext cx="2615184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3008" y="1591056"/>
            <a:ext cx="23408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E7D32"/>
                </a:solidFill>
                <a:latin typeface="Consolas"/>
              </a:rPr>
              <a:t>&lt;6 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2057400"/>
            <a:ext cx="234086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PAYBACK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463040"/>
            <a:ext cx="2615184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591056"/>
            <a:ext cx="23408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D3E63"/>
                </a:solidFill>
                <a:latin typeface="Consolas"/>
              </a:rPr>
              <a:t>5–10×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057400"/>
            <a:ext cx="234086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FIRST-YEAR ROI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1463040"/>
            <a:ext cx="2615184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9136" y="1591056"/>
            <a:ext cx="23408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B07400"/>
                </a:solidFill>
                <a:latin typeface="Consolas"/>
              </a:rPr>
              <a:t>$2M/hr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057400"/>
            <a:ext cx="234086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4E44"/>
                </a:solidFill>
                <a:latin typeface="Consolas"/>
              </a:rPr>
              <a:t>DOWNTIME AVOIDED*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onsolas"/>
              </a:rPr>
              <a:t>VALUE LEVERS — $M / LINE / YR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2926080"/>
          <a:ext cx="5394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63640" y="26517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onsolas"/>
              </a:rPr>
              <a:t>VALUE MIX (%)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126480" y="2880360"/>
          <a:ext cx="51206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48640" y="507492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D3E63"/>
                </a:solidFill>
                <a:latin typeface="Consolas"/>
              </a:rPr>
              <a:t>REFERENCE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3949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~220k units/yr · ~$3.5k contribution margin / vehicle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3" y="507492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F7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25695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F7A62"/>
                </a:solidFill>
                <a:latin typeface="Consolas"/>
              </a:rPr>
              <a:t>NEAR-ZERO SENSING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5" y="53949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subscribes to existing OT — OPC-UA / MQTT / 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7" y="507492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59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B07400"/>
                </a:solidFill>
                <a:latin typeface="Consolas"/>
              </a:rPr>
              <a:t>CONWIP LEVER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53949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same output, lower WIP &amp; lead time, $0 capital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8B7C"/>
                </a:solidFill>
                <a:latin typeface="Calibri"/>
              </a:rPr>
              <a:t>* Senseye/Siemens 'True Cost of Downtime' benchmark. Figures illustrative and assumption-stated, per Round 2 guidance.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ROADMAP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611"/>
                </a:solidFill>
                <a:latin typeface="Calibri"/>
              </a:rPr>
              <a:t>A phased, low-disruption rollout — advise-only, validated against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60934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Consolas"/>
              </a:rPr>
              <a:t>0 ·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20240"/>
            <a:ext cx="18928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alibri"/>
              </a:rPr>
              <a:t>0–2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194560"/>
            <a:ext cx="18928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Read-only OT subscription; calibrate; shadow mode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240280"/>
            <a:ext cx="109728" cy="0"/>
          </a:xfrm>
          <a:prstGeom prst="line">
            <a:avLst/>
          </a:prstGeom>
          <a:ln w="1651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60934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E7D32"/>
                </a:solidFill>
                <a:latin typeface="Consolas"/>
              </a:rPr>
              <a:t>1 · Prevent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20240"/>
            <a:ext cx="18928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alibri"/>
              </a:rPr>
              <a:t>2–4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94560"/>
            <a:ext cx="18928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Supervisor view + T+5 forecast; alert contract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4607" y="2240280"/>
            <a:ext cx="109729" cy="0"/>
          </a:xfrm>
          <a:prstGeom prst="line">
            <a:avLst/>
          </a:prstGeom>
          <a:ln w="1651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74336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7" y="160934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D3E63"/>
                </a:solidFill>
                <a:latin typeface="Consolas"/>
              </a:rPr>
              <a:t>2 · 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1920240"/>
            <a:ext cx="18928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alibri"/>
              </a:rPr>
              <a:t>4–8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2194560"/>
            <a:ext cx="18928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Defect backtrace + containment; retrofit plan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77455" y="2240280"/>
            <a:ext cx="109728" cy="0"/>
          </a:xfrm>
          <a:prstGeom prst="line">
            <a:avLst/>
          </a:prstGeom>
          <a:ln w="1651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87183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0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06055" y="160934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07400"/>
                </a:solidFill>
                <a:latin typeface="Consolas"/>
              </a:rPr>
              <a:t>3 · Leadership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5" y="1920240"/>
            <a:ext cx="18928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alibri"/>
              </a:rPr>
              <a:t>8–12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5" y="2194560"/>
            <a:ext cx="18928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ROI dashboard; 2nd segment; drift monitoring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90304" y="2240280"/>
            <a:ext cx="109728" cy="0"/>
          </a:xfrm>
          <a:prstGeom prst="line">
            <a:avLst/>
          </a:prstGeom>
          <a:ln w="16510">
            <a:solidFill>
              <a:srgbClr val="3E4C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00032" y="1508760"/>
            <a:ext cx="2103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18904" y="160934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E4C59"/>
                </a:solidFill>
                <a:latin typeface="Consolas"/>
              </a:rPr>
              <a:t>4 ·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4" y="1920240"/>
            <a:ext cx="18928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54E44"/>
                </a:solidFill>
                <a:latin typeface="Calibri"/>
              </a:rPr>
              <a:t>12 mo+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8904" y="2194560"/>
            <a:ext cx="18928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4E44"/>
                </a:solidFill>
                <a:latin typeface="Calibri"/>
              </a:rPr>
              <a:t>Multi-plant; retrofit optimiser; failure classifier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20040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3E4C59"/>
          </a:solidFill>
          <a:ln w="12700">
            <a:solidFill>
              <a:srgbClr val="3E4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73552"/>
            <a:ext cx="31638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Key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273552"/>
            <a:ext cx="7644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Mitigation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65760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739896"/>
            <a:ext cx="31638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alibri"/>
              </a:rPr>
              <a:t>False alarms erode 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739896"/>
            <a:ext cx="7644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4E44"/>
                </a:solidFill>
                <a:latin typeface="Calibri"/>
              </a:rPr>
              <a:t>Economic ground truth + regret + held-out calibration + persistence filter + twin-drift recal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11480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197096"/>
            <a:ext cx="31638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alibri"/>
              </a:rPr>
              <a:t>Legacy PLCs / live-production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197096"/>
            <a:ext cx="7644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4E44"/>
                </a:solidFill>
                <a:latin typeface="Calibri"/>
              </a:rPr>
              <a:t>Read-only OT subscription; NO set-point write-back; retrofits only in maintenance windows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57200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654296"/>
            <a:ext cx="31638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alibri"/>
              </a:rPr>
              <a:t>Sparse / no sensors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654296"/>
            <a:ext cx="7644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4E44"/>
                </a:solidFill>
                <a:latin typeface="Calibri"/>
              </a:rPr>
              <a:t>Inference with provenance + confidence; costed retrofit optimiser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02920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111496"/>
            <a:ext cx="31638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611"/>
                </a:solidFill>
                <a:latin typeface="Calibri"/>
              </a:rPr>
              <a:t>Model drift across sites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111496"/>
            <a:ext cx="7644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4E44"/>
                </a:solidFill>
                <a:latin typeface="Calibri"/>
              </a:rPr>
              <a:t>Topology-as-data; re-calibration transfer; scale-invariant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611"/>
                </a:solidFill>
                <a:latin typeface="Calibri"/>
              </a:rPr>
              <a:t>Simulate · Forecast · Trace · Resolve.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871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54E44"/>
                </a:solidFill>
                <a:latin typeface="Calibri"/>
              </a:rPr>
              <a:t>A twin that predicts the failure, finds the defect, and prices the fix — live, on a line with realistic uneven sensors.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9184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ECE6DC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32918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A1611"/>
                </a:solidFill>
                <a:latin typeface="Calibri"/>
              </a:rPr>
              <a:t>It simulates the line, learns the failure, traces the defect, and proves the fix — </a:t>
            </a:r>
            <a:r>
              <a:rPr sz="1500" b="1">
                <a:solidFill>
                  <a:srgbClr val="C0392B"/>
                </a:solidFill>
                <a:latin typeface="Calibri"/>
              </a:rPr>
              <a:t>one case, no black boxes, reproducible to the seed.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Consolas"/>
              </a:rPr>
              <a:t>TEAM TWINFORGE · IIT MADRAS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8646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611"/>
                </a:solidFill>
                <a:latin typeface="Calibri"/>
              </a:rPr>
              <a:t>Sasanka Marthand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937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54E44"/>
                </a:solidFill>
                <a:latin typeface="Consolas"/>
              </a:rPr>
              <a:t>CE22B079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3" y="475488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61103" y="48646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611"/>
                </a:solidFill>
                <a:latin typeface="Calibri"/>
              </a:rPr>
              <a:t>Pratyush Nayak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3" y="51937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54E44"/>
                </a:solidFill>
                <a:latin typeface="Consolas"/>
              </a:rPr>
              <a:t>CH23B011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7" y="475488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1D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7" y="48646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611"/>
                </a:solidFill>
                <a:latin typeface="Calibri"/>
              </a:rPr>
              <a:t>Sannith Reddy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7" y="51937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54E44"/>
                </a:solidFill>
                <a:latin typeface="Consolas"/>
              </a:rPr>
              <a:t>CE23B081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54E44"/>
                </a:solidFill>
                <a:latin typeface="Consolas"/>
              </a:rPr>
              <a:t>github.com/sasank2004/twinforge</a:t>
            </a:r>
            <a:r>
              <a:rPr sz="1300" b="1">
                <a:solidFill>
                  <a:srgbClr val="C0392B"/>
                </a:solidFill>
                <a:latin typeface="Calibri"/>
              </a:rPr>
              <a:t>     ·  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2369</Words>
  <Application>Microsoft Office PowerPoint</Application>
  <PresentationFormat>Widescreen</PresentationFormat>
  <Paragraphs>340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Sasank Marthand Nedunuri</cp:lastModifiedBy>
  <cp:revision>3</cp:revision>
  <dcterms:created xsi:type="dcterms:W3CDTF">2013-01-27T09:14:16Z</dcterms:created>
  <dcterms:modified xsi:type="dcterms:W3CDTF">2026-09-02T12:00:11Z</dcterms:modified>
  <cp:category/>
</cp:coreProperties>
</file>