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74519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Consolas"/>
              </a:rPr>
              <a:t>ACCENTURE INNOVATION CHALLENGE 2026 · ROUND 2 · PROBLEM STATEMENT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233172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200" b="1">
                <a:solidFill>
                  <a:srgbClr val="EDEDED"/>
                </a:solidFill>
                <a:latin typeface="Calibri"/>
              </a:rPr>
              <a:t>TwinForge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9E9EA6"/>
                </a:solidFill>
                <a:latin typeface="Calibri"/>
              </a:rPr>
              <a:t>A live digital twin of a vehicle assembly line — </a:t>
            </a:r>
            <a:r>
              <a:rPr sz="1900" b="1">
                <a:solidFill>
                  <a:srgbClr val="EDEDED"/>
                </a:solidFill>
                <a:latin typeface="Calibri"/>
              </a:rPr>
              <a:t>we simulate the factory</a:t>
            </a:r>
            <a:r>
              <a:rPr sz="1900" b="0">
                <a:solidFill>
                  <a:srgbClr val="9E9EA6"/>
                </a:solidFill>
                <a:latin typeface="Calibri"/>
              </a:rPr>
              <a:t>, forecast the failure, trace the defect, and price the fix.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297680"/>
            <a:ext cx="2606040" cy="59436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425696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onsolas"/>
              </a:rPr>
              <a:t>01  Telemetry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4297680"/>
            <a:ext cx="2606040" cy="59436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5FB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4425696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FB06A"/>
                </a:solidFill>
                <a:latin typeface="Consolas"/>
              </a:rPr>
              <a:t>02  Prevent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97680"/>
            <a:ext cx="2606040" cy="59436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7FA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4425696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FA8D8"/>
                </a:solidFill>
                <a:latin typeface="Consolas"/>
              </a:rPr>
              <a:t>03  Diagnose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39" y="4297680"/>
            <a:ext cx="2606040" cy="59436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D9A4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39" y="4425696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A441"/>
                </a:solidFill>
                <a:latin typeface="Consolas"/>
              </a:rPr>
              <a:t>04  Resolve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E9EA6"/>
                </a:solidFill>
                <a:latin typeface="Calibri"/>
              </a:rPr>
              <a:t>Team TwinForge · IIT Madras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onsolas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DEDED"/>
                </a:solidFill>
                <a:latin typeface="Calibri"/>
              </a:rPr>
              <a:t>One simulated line, one injectable case, four purpose-built workspaces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7607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▸  </a:t>
            </a:r>
            <a:r>
              <a:rPr sz="1400" b="1">
                <a:solidFill>
                  <a:srgbClr val="EDEDED"/>
                </a:solidFill>
                <a:latin typeface="Calibri"/>
              </a:rPr>
              <a:t>It is a simulator, not a mockup. </a:t>
            </a:r>
            <a:r>
              <a:rPr sz="1400" b="0">
                <a:solidFill>
                  <a:srgbClr val="9E9EA6"/>
                </a:solidFill>
                <a:latin typeface="Calibri"/>
              </a:rPr>
              <a:t>A discrete-event twin of a fixed 9-station line runs live in the browser; every number is generated, not scripted.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▸  </a:t>
            </a:r>
            <a:r>
              <a:rPr sz="1400" b="1">
                <a:solidFill>
                  <a:srgbClr val="EDEDED"/>
                </a:solidFill>
                <a:latin typeface="Calibri"/>
              </a:rPr>
              <a:t>A global Case drives everything. </a:t>
            </a:r>
            <a:r>
              <a:rPr sz="1400" b="0">
                <a:solidFill>
                  <a:srgbClr val="9E9EA6"/>
                </a:solidFill>
                <a:latin typeface="Calibri"/>
              </a:rPr>
              <a:t>You inject a fault (station, type, severity, complication) once, from the ribbon — Telemetry, Prevent and Resolve all respond to 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▸  </a:t>
            </a:r>
            <a:r>
              <a:rPr sz="1400" b="1">
                <a:solidFill>
                  <a:srgbClr val="EDEDED"/>
                </a:solidFill>
                <a:latin typeface="Calibri"/>
              </a:rPr>
              <a:t>Four workspaces, four jobs. </a:t>
            </a:r>
            <a:r>
              <a:rPr sz="1400" b="0">
                <a:solidFill>
                  <a:srgbClr val="9E9EA6"/>
                </a:solidFill>
                <a:latin typeface="Calibri"/>
              </a:rPr>
              <a:t>Watch (Telemetry), forecast &amp; fix early (Prevent), trace a late defect (Diagnose), and re-simulate a fix (Resolve).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▸  </a:t>
            </a:r>
            <a:r>
              <a:rPr sz="1400" b="1">
                <a:solidFill>
                  <a:srgbClr val="EDEDED"/>
                </a:solidFill>
                <a:latin typeface="Calibri"/>
              </a:rPr>
              <a:t>Honest by design. </a:t>
            </a:r>
            <a:r>
              <a:rPr sz="1400" b="0">
                <a:solidFill>
                  <a:srgbClr val="9E9EA6"/>
                </a:solidFill>
                <a:latin typeface="Calibri"/>
              </a:rPr>
              <a:t>Bottleneck location is arithmetic; ML is used only where it earns its place — forecasting and defect attribution.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783080"/>
            <a:ext cx="5120640" cy="420624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onsolas"/>
              </a:rPr>
              <a:t>THE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2377440"/>
            <a:ext cx="4480560" cy="566928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2450592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onsolas"/>
              </a:rPr>
              <a:t>CASE  </a:t>
            </a:r>
            <a:r>
              <a:rPr sz="1150" b="0">
                <a:solidFill>
                  <a:srgbClr val="9E9EA6"/>
                </a:solidFill>
                <a:latin typeface="Calibri"/>
              </a:rPr>
              <a:t>injected fault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052560" y="2944368"/>
            <a:ext cx="0" cy="182880"/>
          </a:xfrm>
          <a:prstGeom prst="line">
            <a:avLst/>
          </a:prstGeom>
          <a:ln w="15240">
            <a:solidFill>
              <a:srgbClr val="6B6B7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12280" y="3127248"/>
            <a:ext cx="4480560" cy="566928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 w="9525">
            <a:solidFill>
              <a:srgbClr val="9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320040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9E9EA6"/>
                </a:solidFill>
                <a:latin typeface="Consolas"/>
              </a:rPr>
              <a:t>TELEMETRY  </a:t>
            </a:r>
            <a:r>
              <a:rPr sz="1150" b="0">
                <a:solidFill>
                  <a:srgbClr val="9E9EA6"/>
                </a:solidFill>
                <a:latin typeface="Calibri"/>
              </a:rPr>
              <a:t>live line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52560" y="3694176"/>
            <a:ext cx="0" cy="182880"/>
          </a:xfrm>
          <a:prstGeom prst="line">
            <a:avLst/>
          </a:prstGeom>
          <a:ln w="15240">
            <a:solidFill>
              <a:srgbClr val="6B6B7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812280" y="3877056"/>
            <a:ext cx="4480560" cy="566928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 w="9525">
            <a:solidFill>
              <a:srgbClr val="5FB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3950208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FB06A"/>
                </a:solidFill>
                <a:latin typeface="Consolas"/>
              </a:rPr>
              <a:t>PREVENT  </a:t>
            </a:r>
            <a:r>
              <a:rPr sz="1150" b="0">
                <a:solidFill>
                  <a:srgbClr val="9E9EA6"/>
                </a:solidFill>
                <a:latin typeface="Calibri"/>
              </a:rPr>
              <a:t>forecast + fix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2560" y="4443984"/>
            <a:ext cx="0" cy="182880"/>
          </a:xfrm>
          <a:prstGeom prst="line">
            <a:avLst/>
          </a:prstGeom>
          <a:ln w="15240">
            <a:solidFill>
              <a:srgbClr val="6B6B7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12280" y="4626864"/>
            <a:ext cx="4480560" cy="566928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 w="9525">
            <a:solidFill>
              <a:srgbClr val="7FA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4700016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FA8D8"/>
                </a:solidFill>
                <a:latin typeface="Consolas"/>
              </a:rPr>
              <a:t>DIAGNOSE  </a:t>
            </a:r>
            <a:r>
              <a:rPr sz="1150" b="0">
                <a:solidFill>
                  <a:srgbClr val="9E9EA6"/>
                </a:solidFill>
                <a:latin typeface="Calibri"/>
              </a:rPr>
              <a:t>defect trace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5193792"/>
            <a:ext cx="0" cy="182880"/>
          </a:xfrm>
          <a:prstGeom prst="line">
            <a:avLst/>
          </a:prstGeom>
          <a:ln w="15240">
            <a:solidFill>
              <a:srgbClr val="6B6B7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812280" y="5376672"/>
            <a:ext cx="4480560" cy="566928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 w="9525">
            <a:solidFill>
              <a:srgbClr val="D9A4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0" y="5449824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A441"/>
                </a:solidFill>
                <a:latin typeface="Consolas"/>
              </a:rPr>
              <a:t>RESOLVE  </a:t>
            </a:r>
            <a:r>
              <a:rPr sz="1150" b="0">
                <a:solidFill>
                  <a:srgbClr val="9E9EA6"/>
                </a:solidFill>
                <a:latin typeface="Calibri"/>
              </a:rPr>
              <a:t>re-simulate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onsolas"/>
              </a:rPr>
              <a:t>WHAT WE SIMULATE — THE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DEDED"/>
                </a:solidFill>
                <a:latin typeface="Calibri"/>
              </a:rPr>
              <a:t>A fixed 9-station DAG with merges, splits and heterogeneous sensors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378915" y="2598724"/>
            <a:ext cx="1682496" cy="537668"/>
          </a:xfrm>
          <a:prstGeom prst="line">
            <a:avLst/>
          </a:prstGeom>
          <a:ln w="13970">
            <a:solidFill>
              <a:srgbClr val="3A3A4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378915" y="2598724"/>
            <a:ext cx="1682496" cy="1613002"/>
          </a:xfrm>
          <a:prstGeom prst="line">
            <a:avLst/>
          </a:prstGeom>
          <a:ln w="13970">
            <a:solidFill>
              <a:srgbClr val="3A3A4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378915" y="3136392"/>
            <a:ext cx="1682496" cy="768095"/>
          </a:xfrm>
          <a:prstGeom prst="line">
            <a:avLst/>
          </a:prstGeom>
          <a:ln w="13970">
            <a:solidFill>
              <a:srgbClr val="3A3A4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378915" y="4211726"/>
            <a:ext cx="1682496" cy="998525"/>
          </a:xfrm>
          <a:prstGeom prst="line">
            <a:avLst/>
          </a:prstGeom>
          <a:ln w="13970">
            <a:solidFill>
              <a:srgbClr val="3A3A4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378915" y="5210251"/>
            <a:ext cx="1682496" cy="76809"/>
          </a:xfrm>
          <a:prstGeom prst="line">
            <a:avLst/>
          </a:prstGeom>
          <a:ln w="13970">
            <a:solidFill>
              <a:srgbClr val="3A3A4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354019" y="3136392"/>
            <a:ext cx="1616659" cy="384048"/>
          </a:xfrm>
          <a:prstGeom prst="line">
            <a:avLst/>
          </a:prstGeom>
          <a:ln w="13970">
            <a:solidFill>
              <a:srgbClr val="3A3A4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354019" y="3520440"/>
            <a:ext cx="1616659" cy="1766620"/>
          </a:xfrm>
          <a:prstGeom prst="line">
            <a:avLst/>
          </a:prstGeom>
          <a:ln w="13970">
            <a:solidFill>
              <a:srgbClr val="3A3A4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354019" y="4211726"/>
            <a:ext cx="1616659" cy="537667"/>
          </a:xfrm>
          <a:prstGeom prst="line">
            <a:avLst/>
          </a:prstGeom>
          <a:ln w="13970">
            <a:solidFill>
              <a:srgbClr val="3A3A4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263286" y="3520440"/>
            <a:ext cx="1484986" cy="576072"/>
          </a:xfrm>
          <a:prstGeom prst="line">
            <a:avLst/>
          </a:prstGeom>
          <a:ln w="13970">
            <a:solidFill>
              <a:srgbClr val="3A3A4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263286" y="4096512"/>
            <a:ext cx="1484986" cy="652881"/>
          </a:xfrm>
          <a:prstGeom prst="line">
            <a:avLst/>
          </a:prstGeom>
          <a:ln w="13970">
            <a:solidFill>
              <a:srgbClr val="3A3A4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086307" y="2397556"/>
            <a:ext cx="932688" cy="402336"/>
          </a:xfrm>
          <a:prstGeom prst="roundRect">
            <a:avLst>
              <a:gd name="adj" fmla="val 5000"/>
            </a:avLst>
          </a:prstGeom>
          <a:solidFill>
            <a:srgbClr val="222228"/>
          </a:solidFill>
          <a:ln w="16510">
            <a:solidFill>
              <a:srgbClr val="7FA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6307" y="2424988"/>
            <a:ext cx="9326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DEDED"/>
                </a:solidFill>
                <a:latin typeface="Consolas"/>
              </a:rPr>
              <a:t>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6307" y="2626156"/>
            <a:ext cx="9326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B6B74"/>
                </a:solidFill>
                <a:latin typeface="Calibri"/>
              </a:rPr>
              <a:t>Body Framing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86307" y="3703320"/>
            <a:ext cx="932688" cy="402336"/>
          </a:xfrm>
          <a:prstGeom prst="roundRect">
            <a:avLst>
              <a:gd name="adj" fmla="val 5000"/>
            </a:avLst>
          </a:prstGeom>
          <a:solidFill>
            <a:srgbClr val="222228"/>
          </a:solidFill>
          <a:ln w="1651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6307" y="3730752"/>
            <a:ext cx="9326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DEDED"/>
                </a:solidFill>
                <a:latin typeface="Consolas"/>
              </a:rPr>
              <a:t>S2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6307" y="3931920"/>
            <a:ext cx="9326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B6B74"/>
                </a:solidFill>
                <a:latin typeface="Calibri"/>
              </a:rPr>
              <a:t>Chassis Prep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6307" y="5009083"/>
            <a:ext cx="932688" cy="402336"/>
          </a:xfrm>
          <a:prstGeom prst="roundRect">
            <a:avLst>
              <a:gd name="adj" fmla="val 5000"/>
            </a:avLst>
          </a:prstGeom>
          <a:solidFill>
            <a:srgbClr val="222228"/>
          </a:solidFill>
          <a:ln w="16510">
            <a:solidFill>
              <a:srgbClr val="7FA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6307" y="5036515"/>
            <a:ext cx="9326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DEDED"/>
                </a:solidFill>
                <a:latin typeface="Consolas"/>
              </a:rPr>
              <a:t>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307" y="5237683"/>
            <a:ext cx="9326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B6B74"/>
                </a:solidFill>
                <a:latin typeface="Calibri"/>
              </a:rPr>
              <a:t>Paint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61411" y="2935224"/>
            <a:ext cx="932688" cy="402336"/>
          </a:xfrm>
          <a:prstGeom prst="roundRect">
            <a:avLst>
              <a:gd name="adj" fmla="val 5000"/>
            </a:avLst>
          </a:prstGeom>
          <a:solidFill>
            <a:srgbClr val="222228"/>
          </a:solidFill>
          <a:ln w="16510">
            <a:solidFill>
              <a:srgbClr val="7FA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61411" y="2962656"/>
            <a:ext cx="9326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DEDED"/>
                </a:solidFill>
                <a:latin typeface="Consolas"/>
              </a:rPr>
              <a:t>S4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1411" y="3163824"/>
            <a:ext cx="9326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B6B74"/>
                </a:solidFill>
                <a:latin typeface="Calibri"/>
              </a:rPr>
              <a:t>Powertrain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61411" y="4010558"/>
            <a:ext cx="932688" cy="402336"/>
          </a:xfrm>
          <a:prstGeom prst="roundRect">
            <a:avLst>
              <a:gd name="adj" fmla="val 5000"/>
            </a:avLst>
          </a:prstGeom>
          <a:solidFill>
            <a:srgbClr val="222228"/>
          </a:solidFill>
          <a:ln w="1651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61411" y="4037990"/>
            <a:ext cx="9326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DEDED"/>
                </a:solidFill>
                <a:latin typeface="Consolas"/>
              </a:rPr>
              <a:t>S5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1411" y="4239158"/>
            <a:ext cx="9326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B6B74"/>
                </a:solidFill>
                <a:latin typeface="Calibri"/>
              </a:rPr>
              <a:t>Interior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61411" y="5085892"/>
            <a:ext cx="932688" cy="402336"/>
          </a:xfrm>
          <a:prstGeom prst="roundRect">
            <a:avLst>
              <a:gd name="adj" fmla="val 5000"/>
            </a:avLst>
          </a:prstGeom>
          <a:solidFill>
            <a:srgbClr val="222228"/>
          </a:solidFill>
          <a:ln w="16510">
            <a:solidFill>
              <a:srgbClr val="7FA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61411" y="5113324"/>
            <a:ext cx="9326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DEDED"/>
                </a:solidFill>
                <a:latin typeface="Consolas"/>
              </a:rPr>
              <a:t>S6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1411" y="5314492"/>
            <a:ext cx="9326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B6B74"/>
                </a:solidFill>
                <a:latin typeface="Calibri"/>
              </a:rPr>
              <a:t>Battery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70678" y="3319272"/>
            <a:ext cx="932688" cy="402336"/>
          </a:xfrm>
          <a:prstGeom prst="roundRect">
            <a:avLst>
              <a:gd name="adj" fmla="val 5000"/>
            </a:avLst>
          </a:prstGeom>
          <a:solidFill>
            <a:srgbClr val="222228"/>
          </a:solidFill>
          <a:ln w="16510">
            <a:solidFill>
              <a:srgbClr val="7FA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70678" y="3346703"/>
            <a:ext cx="9326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DEDED"/>
                </a:solidFill>
                <a:latin typeface="Consolas"/>
              </a:rPr>
              <a:t>S7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70678" y="3547872"/>
            <a:ext cx="9326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B6B74"/>
                </a:solidFill>
                <a:latin typeface="Calibri"/>
              </a:rPr>
              <a:t>Marriage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70678" y="4548225"/>
            <a:ext cx="932688" cy="402336"/>
          </a:xfrm>
          <a:prstGeom prst="roundRect">
            <a:avLst>
              <a:gd name="adj" fmla="val 5000"/>
            </a:avLst>
          </a:prstGeom>
          <a:solidFill>
            <a:srgbClr val="222228"/>
          </a:solidFill>
          <a:ln w="16510">
            <a:solidFill>
              <a:srgbClr val="7FA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70678" y="4575657"/>
            <a:ext cx="9326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DEDED"/>
                </a:solidFill>
                <a:latin typeface="Consolas"/>
              </a:rPr>
              <a:t>S8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70678" y="4776825"/>
            <a:ext cx="9326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B6B74"/>
                </a:solidFill>
                <a:latin typeface="Calibri"/>
              </a:rPr>
              <a:t>Trim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48272" y="3895344"/>
            <a:ext cx="932688" cy="402336"/>
          </a:xfrm>
          <a:prstGeom prst="roundRect">
            <a:avLst>
              <a:gd name="adj" fmla="val 5000"/>
            </a:avLst>
          </a:prstGeom>
          <a:solidFill>
            <a:srgbClr val="222228"/>
          </a:solidFill>
          <a:ln w="1651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48272" y="3922776"/>
            <a:ext cx="9326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DEDED"/>
                </a:solidFill>
                <a:latin typeface="Consolas"/>
              </a:rPr>
              <a:t>S9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48272" y="4123944"/>
            <a:ext cx="9326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B6B74"/>
                </a:solidFill>
                <a:latin typeface="Calibri"/>
              </a:rPr>
              <a:t>Final/QA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94360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6B74"/>
                </a:solidFill>
                <a:latin typeface="Consolas"/>
              </a:rPr>
              <a:t>blue = quality/defect origin · clay = QA sink · edges = finite-capacity buffers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63840" y="1783080"/>
            <a:ext cx="3749039" cy="429768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0" y="19202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onsolas"/>
              </a:rPr>
              <a:t>KEY FACTS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2331720"/>
            <a:ext cx="3429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▸  </a:t>
            </a:r>
            <a:r>
              <a:rPr sz="1200" b="1">
                <a:solidFill>
                  <a:srgbClr val="EDEDED"/>
                </a:solidFill>
                <a:latin typeface="Calibri"/>
              </a:rPr>
              <a:t>3 sources → 1 sink. </a:t>
            </a:r>
            <a:r>
              <a:rPr sz="1200" b="0">
                <a:solidFill>
                  <a:srgbClr val="9E9EA6"/>
                </a:solidFill>
                <a:latin typeface="Calibri"/>
              </a:rPr>
              <a:t>5 balanced routes; every unit sees 4 stations.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▸  </a:t>
            </a:r>
            <a:r>
              <a:rPr sz="1200" b="1">
                <a:solidFill>
                  <a:srgbClr val="EDEDED"/>
                </a:solidFill>
                <a:latin typeface="Calibri"/>
              </a:rPr>
              <a:t>Takt 12 s → 300 UPH. </a:t>
            </a:r>
            <a:r>
              <a:rPr sz="1200" b="0">
                <a:solidFill>
                  <a:srgbClr val="9E9EA6"/>
                </a:solidFill>
                <a:latin typeface="Calibri"/>
              </a:rPr>
              <a:t>Healthy line flows; a fault pushes one station over its limit.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▸  </a:t>
            </a:r>
            <a:r>
              <a:rPr sz="1200" b="1">
                <a:solidFill>
                  <a:srgbClr val="EDEDED"/>
                </a:solidFill>
                <a:latin typeface="Calibri"/>
              </a:rPr>
              <a:t>Load varies. </a:t>
            </a:r>
            <a:r>
              <a:rPr sz="1200" b="0">
                <a:solidFill>
                  <a:srgbClr val="9E9EA6"/>
                </a:solidFill>
                <a:latin typeface="Calibri"/>
              </a:rPr>
              <a:t>S9 sees all flow, S7 three routes — the constraint isn't obvious.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▸  </a:t>
            </a:r>
            <a:r>
              <a:rPr sz="1200" b="1">
                <a:solidFill>
                  <a:srgbClr val="EDEDED"/>
                </a:solidFill>
                <a:latin typeface="Calibri"/>
              </a:rPr>
              <a:t>Heterogeneous sensors. </a:t>
            </a:r>
            <a:r>
              <a:rPr sz="1200" b="0">
                <a:solidFill>
                  <a:srgbClr val="9E9EA6"/>
                </a:solidFill>
                <a:latin typeface="Calibri"/>
              </a:rPr>
              <a:t>Torque, temp, voltage, vibration; S2 fully manual (dark).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onsolas"/>
              </a:rPr>
              <a:t>WHAT WE SIMULATE — THE PHYSICS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DEDED"/>
                </a:solidFill>
                <a:latin typeface="Calibri"/>
              </a:rPr>
              <a:t>A conservation-exact, seed-reproducible discrete-event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3520440" cy="4297680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4708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Flow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3246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▸  </a:t>
            </a:r>
            <a:r>
              <a:rPr sz="1250" b="0">
                <a:solidFill>
                  <a:srgbClr val="9E9EA6"/>
                </a:solidFill>
                <a:latin typeface="Calibri"/>
              </a:rPr>
              <a:t>Per-second DES; units flow on routes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▸  </a:t>
            </a:r>
            <a:r>
              <a:rPr sz="1250" b="0">
                <a:solidFill>
                  <a:srgbClr val="9E9EA6"/>
                </a:solidFill>
                <a:latin typeface="Calibri"/>
              </a:rPr>
              <a:t>Blocked / starved / working / down states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▸  </a:t>
            </a:r>
            <a:r>
              <a:rPr sz="1250" b="0">
                <a:solidFill>
                  <a:srgbClr val="9E9EA6"/>
                </a:solidFill>
                <a:latin typeface="Calibri"/>
              </a:rPr>
              <a:t>Finite buffers → real back-pressure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▸  </a:t>
            </a:r>
            <a:r>
              <a:rPr sz="1250" b="0">
                <a:solidFill>
                  <a:srgbClr val="9E9EA6"/>
                </a:solidFill>
                <a:latin typeface="Calibri"/>
              </a:rPr>
              <a:t>Conservation: in = produced + WIP + backlog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1103" y="1691640"/>
            <a:ext cx="3520440" cy="4297680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 w="9525">
            <a:solidFill>
              <a:srgbClr val="7FA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43983" y="184708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FA8D8"/>
                </a:solidFill>
                <a:latin typeface="Calibri"/>
              </a:rPr>
              <a:t>Randomness (CRN)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983" y="2331720"/>
            <a:ext cx="3246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7FA8D8"/>
                </a:solidFill>
                <a:latin typeface="Calibri"/>
              </a:rPr>
              <a:t>▸  </a:t>
            </a:r>
            <a:r>
              <a:rPr sz="1250" b="0">
                <a:solidFill>
                  <a:srgbClr val="9E9EA6"/>
                </a:solidFill>
                <a:latin typeface="Calibri"/>
              </a:rPr>
              <a:t>Noise is a function of (unit, station)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7FA8D8"/>
                </a:solidFill>
                <a:latin typeface="Calibri"/>
              </a:rPr>
              <a:t>▸  </a:t>
            </a:r>
            <a:r>
              <a:rPr sz="1250" b="0">
                <a:solidFill>
                  <a:srgbClr val="9E9EA6"/>
                </a:solidFill>
                <a:latin typeface="Calibri"/>
              </a:rPr>
              <a:t>Failures pre-scheduled per station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7FA8D8"/>
                </a:solidFill>
                <a:latin typeface="Calibri"/>
              </a:rPr>
              <a:t>▸  </a:t>
            </a:r>
            <a:r>
              <a:rPr sz="1250" b="0">
                <a:solidFill>
                  <a:srgbClr val="9E9EA6"/>
                </a:solidFill>
                <a:latin typeface="Calibri"/>
              </a:rPr>
              <a:t>So a counterfactual is truly paired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7FA8D8"/>
                </a:solidFill>
                <a:latin typeface="Calibri"/>
              </a:rPr>
              <a:t>▸  </a:t>
            </a:r>
            <a:r>
              <a:rPr sz="1250" b="0">
                <a:solidFill>
                  <a:srgbClr val="9E9EA6"/>
                </a:solidFill>
                <a:latin typeface="Calibri"/>
              </a:rPr>
              <a:t>Noise floor ≈ 1 car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73567" y="1691640"/>
            <a:ext cx="3520440" cy="4297680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 w="9525">
            <a:solidFill>
              <a:srgbClr val="5FB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7" y="184708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FB06A"/>
                </a:solidFill>
                <a:latin typeface="Calibri"/>
              </a:rPr>
              <a:t>Faults injected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6447" y="2331720"/>
            <a:ext cx="3246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5FB06A"/>
                </a:solidFill>
                <a:latin typeface="Calibri"/>
              </a:rPr>
              <a:t>▸  </a:t>
            </a:r>
            <a:r>
              <a:rPr sz="1250" b="0">
                <a:solidFill>
                  <a:srgbClr val="9E9EA6"/>
                </a:solidFill>
                <a:latin typeface="Calibri"/>
              </a:rPr>
              <a:t>Flow: gradual / sudden slowdown, outage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5FB06A"/>
                </a:solidFill>
                <a:latin typeface="Calibri"/>
              </a:rPr>
              <a:t>▸  </a:t>
            </a:r>
            <a:r>
              <a:rPr sz="1250" b="0">
                <a:solidFill>
                  <a:srgbClr val="9E9EA6"/>
                </a:solidFill>
                <a:latin typeface="Calibri"/>
              </a:rPr>
              <a:t>Complication: overheating, tool wear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5FB06A"/>
                </a:solidFill>
                <a:latin typeface="Calibri"/>
              </a:rPr>
              <a:t>▸  </a:t>
            </a:r>
            <a:r>
              <a:rPr sz="1250" b="0">
                <a:solidFill>
                  <a:srgbClr val="9E9EA6"/>
                </a:solidFill>
                <a:latin typeface="Calibri"/>
              </a:rPr>
              <a:t>Quality: tool-drift (defects, no flow hit)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5FB06A"/>
                </a:solidFill>
                <a:latin typeface="Calibri"/>
              </a:rPr>
              <a:t>▸  </a:t>
            </a:r>
            <a:r>
              <a:rPr sz="1250" b="0">
                <a:solidFill>
                  <a:srgbClr val="9E9EA6"/>
                </a:solidFill>
                <a:latin typeface="Calibri"/>
              </a:rPr>
              <a:t>Rare MTBF/MTTR background failures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onsolas"/>
              </a:rPr>
              <a:t>THE FOUR WORKSPACES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DEDED"/>
                </a:solidFill>
                <a:latin typeface="Calibri"/>
              </a:rPr>
              <a:t>Each tab is its own view and toolset — like editors in an 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5394960" cy="196596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88366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onsolas"/>
              </a:rPr>
              <a:t>01 TELEMETRY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8600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DEDED"/>
                </a:solidFill>
                <a:latin typeface="Calibri"/>
              </a:rPr>
              <a:t>Watch the live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517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E9EA6"/>
                </a:solidFill>
                <a:latin typeface="Calibri"/>
              </a:rPr>
              <a:t>Grafana-style dashboard: flow graph, per-station expected-vs-actual, heterogeneous sensors, drill-down.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394960" cy="196596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5FB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88366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FB06A"/>
                </a:solidFill>
                <a:latin typeface="Consolas"/>
              </a:rPr>
              <a:t>02 PREVENT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28600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DEDED"/>
                </a:solidFill>
                <a:latin typeface="Calibri"/>
              </a:rPr>
              <a:t>Forecast &amp; fix early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3368" y="26517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E9EA6"/>
                </a:solidFill>
                <a:latin typeface="Calibri"/>
              </a:rPr>
              <a:t>ML flags a station trending to constrain at T+5 — test a fix by re-scoring the model. Pre-failure.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5394960" cy="196596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7FA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03250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FA8D8"/>
                </a:solidFill>
                <a:latin typeface="Consolas"/>
              </a:rPr>
              <a:t>03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4348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DEDED"/>
                </a:solidFill>
                <a:latin typeface="Calibri"/>
              </a:rPr>
              <a:t>Trace a late defect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80060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E9EA6"/>
                </a:solidFill>
                <a:latin typeface="Calibri"/>
              </a:rPr>
              <a:t>A QA reject with no flow signature; a probability graph attributes it to producer + handlers.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886200"/>
            <a:ext cx="5394960" cy="196596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D9A4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403250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A441"/>
                </a:solidFill>
                <a:latin typeface="Consolas"/>
              </a:rPr>
              <a:t>04 RESOLVE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44348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DEDED"/>
                </a:solidFill>
                <a:latin typeface="Calibri"/>
              </a:rPr>
              <a:t>Re-simulate the fix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480060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E9EA6"/>
                </a:solidFill>
                <a:latin typeface="Calibri"/>
              </a:rPr>
              <a:t>A real counterfactual: re-run the line with an intervention under identical draws; count cars.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onsolas"/>
              </a:rPr>
              <a:t>TAB 01 · TELEMETRY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DEDED"/>
                </a:solidFill>
                <a:latin typeface="Calibri"/>
              </a:rPr>
              <a:t>Purpose — read the living line at a glance, then drill 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2926080" cy="64008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onsolas"/>
              </a:rPr>
              <a:t>WORKSPACE 01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DEDED"/>
                </a:solidFill>
                <a:latin typeface="Calibri"/>
              </a:rPr>
              <a:t>Telemetry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onsolas"/>
              </a:rPr>
              <a:t>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▸  </a:t>
            </a:r>
            <a:r>
              <a:rPr sz="1300" b="1">
                <a:solidFill>
                  <a:srgbClr val="EDEDED"/>
                </a:solidFill>
                <a:latin typeface="Calibri"/>
              </a:rPr>
              <a:t>Live flow graph. </a:t>
            </a:r>
            <a:r>
              <a:rPr sz="1300" b="0">
                <a:solidFill>
                  <a:srgbClr val="9E9EA6"/>
                </a:solidFill>
                <a:latin typeface="Calibri"/>
              </a:rPr>
              <a:t>Animated DAG — state colour, WIP, buffer occupancy.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▸  </a:t>
            </a:r>
            <a:r>
              <a:rPr sz="1300" b="1">
                <a:solidFill>
                  <a:srgbClr val="EDEDED"/>
                </a:solidFill>
                <a:latin typeface="Calibri"/>
              </a:rPr>
              <a:t>Expected vs actual. </a:t>
            </a:r>
            <a:r>
              <a:rPr sz="1300" b="0">
                <a:solidFill>
                  <a:srgbClr val="9E9EA6"/>
                </a:solidFill>
                <a:latin typeface="Calibri"/>
              </a:rPr>
              <a:t>Per-station throughput &amp; cycle time against the design point.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▸  </a:t>
            </a:r>
            <a:r>
              <a:rPr sz="1300" b="1">
                <a:solidFill>
                  <a:srgbClr val="EDEDED"/>
                </a:solidFill>
                <a:latin typeface="Calibri"/>
              </a:rPr>
              <a:t>Heterogeneous sensors. </a:t>
            </a:r>
            <a:r>
              <a:rPr sz="1300" b="0">
                <a:solidFill>
                  <a:srgbClr val="9E9EA6"/>
                </a:solidFill>
                <a:latin typeface="Calibri"/>
              </a:rPr>
              <a:t>Each station shows only the sensors it has; manual stations are dark.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▸  </a:t>
            </a:r>
            <a:r>
              <a:rPr sz="1300" b="1">
                <a:solidFill>
                  <a:srgbClr val="EDEDED"/>
                </a:solidFill>
                <a:latin typeface="Calibri"/>
              </a:rPr>
              <a:t>Click to drill down. </a:t>
            </a:r>
            <a:r>
              <a:rPr sz="1300" b="0">
                <a:solidFill>
                  <a:srgbClr val="9E9EA6"/>
                </a:solidFill>
                <a:latin typeface="Calibri"/>
              </a:rPr>
              <a:t>Full flow + sensor record with measured/inferred provenance.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onsolas"/>
              </a:rPr>
              <a:t>UNDER THE HOOD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▸  </a:t>
            </a:r>
            <a:r>
              <a:rPr sz="1200" b="1">
                <a:solidFill>
                  <a:srgbClr val="EDEDED"/>
                </a:solidFill>
                <a:latin typeface="Calibri"/>
              </a:rPr>
              <a:t>Source. </a:t>
            </a:r>
            <a:r>
              <a:rPr sz="1200" b="0">
                <a:solidFill>
                  <a:srgbClr val="9E9EA6"/>
                </a:solidFill>
                <a:latin typeface="Calibri"/>
              </a:rPr>
              <a:t>Server-Sent-Events stream of the DES snapshot every few sim-seconds.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▸  </a:t>
            </a:r>
            <a:r>
              <a:rPr sz="1200" b="1">
                <a:solidFill>
                  <a:srgbClr val="EDEDED"/>
                </a:solidFill>
                <a:latin typeface="Calibri"/>
              </a:rPr>
              <a:t>Forecast overlay. </a:t>
            </a:r>
            <a:r>
              <a:rPr sz="1200" b="0">
                <a:solidFill>
                  <a:srgbClr val="9E9EA6"/>
                </a:solidFill>
                <a:latin typeface="Calibri"/>
              </a:rPr>
              <a:t>Amber ⚠ marks a station whose risk crosses 35% — before it constrains.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600200"/>
            <a:ext cx="5212080" cy="466344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17780">
            <a:solidFill>
              <a:srgbClr val="D977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474720"/>
            <a:ext cx="5212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onsolas"/>
              </a:rPr>
              <a:t>▣  ADD SCREENSHOT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E9EA6"/>
                </a:solidFill>
                <a:latin typeface="Calibri"/>
              </a:rPr>
              <a:t>Telemetry tab — flow graph + station table (expected/actual + sensors) + forecast bars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onsolas"/>
              </a:rPr>
              <a:t>TAB 02 · PREVENT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DEDED"/>
                </a:solidFill>
                <a:latin typeface="Calibri"/>
              </a:rPr>
              <a:t>Purpose — catch a forming constraint early and prove the fix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2926080" cy="64008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5FB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FB06A"/>
                </a:solidFill>
                <a:latin typeface="Consolas"/>
              </a:rPr>
              <a:t>WORKSPACE 02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DEDED"/>
                </a:solidFill>
                <a:latin typeface="Calibri"/>
              </a:rPr>
              <a:t>Prevent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onsolas"/>
              </a:rPr>
              <a:t>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▸  </a:t>
            </a:r>
            <a:r>
              <a:rPr sz="1300" b="1">
                <a:solidFill>
                  <a:srgbClr val="EDEDED"/>
                </a:solidFill>
                <a:latin typeface="Calibri"/>
              </a:rPr>
              <a:t>Pre-failure risk. </a:t>
            </a:r>
            <a:r>
              <a:rPr sz="1300" b="0">
                <a:solidFill>
                  <a:srgbClr val="9E9EA6"/>
                </a:solidFill>
                <a:latin typeface="Calibri"/>
              </a:rPr>
              <a:t>The forecast flags a station at T+5 while the line is still healthy.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▸  </a:t>
            </a:r>
            <a:r>
              <a:rPr sz="1300" b="1">
                <a:solidFill>
                  <a:srgbClr val="EDEDED"/>
                </a:solidFill>
                <a:latin typeface="Calibri"/>
              </a:rPr>
              <a:t>ML what-if (instant). </a:t>
            </a:r>
            <a:r>
              <a:rPr sz="1300" b="0">
                <a:solidFill>
                  <a:srgbClr val="9E9EA6"/>
                </a:solidFill>
                <a:latin typeface="Calibri"/>
              </a:rPr>
              <a:t>Perturb telemetry (add operator / cool / throttle / service) → re-score the SAME model.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▸  </a:t>
            </a:r>
            <a:r>
              <a:rPr sz="1300" b="1">
                <a:solidFill>
                  <a:srgbClr val="EDEDED"/>
                </a:solidFill>
                <a:latin typeface="Calibri"/>
              </a:rPr>
              <a:t>Coherent by cause. </a:t>
            </a:r>
            <a:r>
              <a:rPr sz="1300" b="0">
                <a:solidFill>
                  <a:srgbClr val="9E9EA6"/>
                </a:solidFill>
                <a:latin typeface="Calibri"/>
              </a:rPr>
              <a:t>Cooling only helps overheating; servicing only helps wear; both gated to real sensors.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▸  </a:t>
            </a:r>
            <a:r>
              <a:rPr sz="1300" b="1">
                <a:solidFill>
                  <a:srgbClr val="EDEDED"/>
                </a:solidFill>
                <a:latin typeface="Calibri"/>
              </a:rPr>
              <a:t>Driving signals shown. </a:t>
            </a:r>
            <a:r>
              <a:rPr sz="1300" b="0">
                <a:solidFill>
                  <a:srgbClr val="9E9EA6"/>
                </a:solidFill>
                <a:latin typeface="Calibri"/>
              </a:rPr>
              <a:t>Exactly which telemetry the model reacts 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onsolas"/>
              </a:rPr>
              <a:t>UNDER THE HOOD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FB06A"/>
                </a:solidFill>
                <a:latin typeface="Calibri"/>
              </a:rPr>
              <a:t>▸  </a:t>
            </a:r>
            <a:r>
              <a:rPr sz="1200" b="1">
                <a:solidFill>
                  <a:srgbClr val="EDEDED"/>
                </a:solidFill>
                <a:latin typeface="Calibri"/>
              </a:rPr>
              <a:t>Model. </a:t>
            </a:r>
            <a:r>
              <a:rPr sz="1200" b="0">
                <a:solidFill>
                  <a:srgbClr val="9E9EA6"/>
                </a:solidFill>
                <a:latin typeface="Calibri"/>
              </a:rPr>
              <a:t>Multinomial logistic regression over a 90-feature vector (9 stations × 10 channels).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FB06A"/>
                </a:solidFill>
                <a:latin typeface="Calibri"/>
              </a:rPr>
              <a:t>▸  </a:t>
            </a:r>
            <a:r>
              <a:rPr sz="1200" b="1">
                <a:solidFill>
                  <a:srgbClr val="EDEDED"/>
                </a:solidFill>
                <a:latin typeface="Calibri"/>
              </a:rPr>
              <a:t>Not a simulation. </a:t>
            </a:r>
            <a:r>
              <a:rPr sz="1200" b="0">
                <a:solidFill>
                  <a:srgbClr val="9E9EA6"/>
                </a:solidFill>
                <a:latin typeface="Calibri"/>
              </a:rPr>
              <a:t>The intervention is a feature perturbation re-scored in milliseconds.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600200"/>
            <a:ext cx="5212080" cy="466344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17780">
            <a:solidFill>
              <a:srgbClr val="D977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474720"/>
            <a:ext cx="5212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onsolas"/>
              </a:rPr>
              <a:t>▣  ADD SCREENSHOT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E9EA6"/>
                </a:solidFill>
                <a:latin typeface="Calibri"/>
              </a:rPr>
              <a:t>Prevent tab — pre-failure risk gauge + intervention before/after (e.g. cool 48%→0%)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onsolas"/>
              </a:rPr>
              <a:t>TAB 03 · DIAGNOSE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DEDED"/>
                </a:solidFill>
                <a:latin typeface="Calibri"/>
              </a:rPr>
              <a:t>Purpose — trace a late QA defect to its true origin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2926080" cy="64008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7FA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FA8D8"/>
                </a:solidFill>
                <a:latin typeface="Consolas"/>
              </a:rPr>
              <a:t>WORKSPACE 03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DEDED"/>
                </a:solidFill>
                <a:latin typeface="Calibri"/>
              </a:rPr>
              <a:t>Diagnose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onsolas"/>
              </a:rPr>
              <a:t>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▸  </a:t>
            </a:r>
            <a:r>
              <a:rPr sz="1300" b="1">
                <a:solidFill>
                  <a:srgbClr val="EDEDED"/>
                </a:solidFill>
                <a:latin typeface="Calibri"/>
              </a:rPr>
              <a:t>No flow signature. </a:t>
            </a:r>
            <a:r>
              <a:rPr sz="1300" b="0">
                <a:solidFill>
                  <a:srgbClr val="9E9EA6"/>
                </a:solidFill>
                <a:latin typeface="Calibri"/>
              </a:rPr>
              <a:t>A defect changes no throughput, so the bottleneck walk is blind.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▸  </a:t>
            </a:r>
            <a:r>
              <a:rPr sz="1300" b="1">
                <a:solidFill>
                  <a:srgbClr val="EDEDED"/>
                </a:solidFill>
                <a:latin typeface="Calibri"/>
              </a:rPr>
              <a:t>Attribute-aware. </a:t>
            </a:r>
            <a:r>
              <a:rPr sz="1300" b="0">
                <a:solidFill>
                  <a:srgbClr val="9E9EA6"/>
                </a:solidFill>
                <a:latin typeface="Calibri"/>
              </a:rPr>
              <a:t>A coating reject could be S3 (applied) OR S7/S8 (scuffed it) — candidates = producer + handlers.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▸  </a:t>
            </a:r>
            <a:r>
              <a:rPr sz="1300" b="1">
                <a:solidFill>
                  <a:srgbClr val="EDEDED"/>
                </a:solidFill>
                <a:latin typeface="Calibri"/>
              </a:rPr>
              <a:t>Distributed probability. </a:t>
            </a:r>
            <a:r>
              <a:rPr sz="1300" b="0">
                <a:solidFill>
                  <a:srgbClr val="9E9EA6"/>
                </a:solidFill>
                <a:latin typeface="Calibri"/>
              </a:rPr>
              <a:t>Tempered posterior on every candidate node (e.g. 82 / 10 / 8%), not a false 98%.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▸  </a:t>
            </a:r>
            <a:r>
              <a:rPr sz="1300" b="1">
                <a:solidFill>
                  <a:srgbClr val="EDEDED"/>
                </a:solidFill>
                <a:latin typeface="Calibri"/>
              </a:rPr>
              <a:t>Containment. </a:t>
            </a:r>
            <a:r>
              <a:rPr sz="1300" b="0">
                <a:solidFill>
                  <a:srgbClr val="9E9EA6"/>
                </a:solidFill>
                <a:latin typeface="Calibri"/>
              </a:rPr>
              <a:t>The exact VINs built on the most-likely origin since it drifted.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onsolas"/>
              </a:rPr>
              <a:t>UNDER THE HOOD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7FA8D8"/>
                </a:solidFill>
                <a:latin typeface="Calibri"/>
              </a:rPr>
              <a:t>▸  </a:t>
            </a:r>
            <a:r>
              <a:rPr sz="1200" b="1">
                <a:solidFill>
                  <a:srgbClr val="EDEDED"/>
                </a:solidFill>
                <a:latin typeface="Calibri"/>
              </a:rPr>
              <a:t>Signals fused. </a:t>
            </a:r>
            <a:r>
              <a:rPr sz="1200" b="0">
                <a:solidFill>
                  <a:srgbClr val="9E9EA6"/>
                </a:solidFill>
                <a:latin typeface="Calibri"/>
              </a:rPr>
              <a:t>Quality telemetry (which tool is out of spec) × genealogy lift (which stations bad units share).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7FA8D8"/>
                </a:solidFill>
                <a:latin typeface="Calibri"/>
              </a:rPr>
              <a:t>▸  </a:t>
            </a:r>
            <a:r>
              <a:rPr sz="1200" b="1">
                <a:solidFill>
                  <a:srgbClr val="EDEDED"/>
                </a:solidFill>
                <a:latin typeface="Calibri"/>
              </a:rPr>
              <a:t>Graph, not flow. </a:t>
            </a:r>
            <a:r>
              <a:rPr sz="1200" b="0">
                <a:solidFill>
                  <a:srgbClr val="9E9EA6"/>
                </a:solidFill>
                <a:latin typeface="Calibri"/>
              </a:rPr>
              <a:t>Stations + connectors, no throughput — a pure probability 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600200"/>
            <a:ext cx="5212080" cy="466344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17780">
            <a:solidFill>
              <a:srgbClr val="D977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474720"/>
            <a:ext cx="5212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onsolas"/>
              </a:rPr>
              <a:t>▣  ADD SCREENSHOT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E9EA6"/>
                </a:solidFill>
                <a:latin typeface="Calibri"/>
              </a:rPr>
              <a:t>Diagnose tab — probability graph (P per node) + defect corridor + ranked producer/handler origins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onsolas"/>
              </a:rPr>
              <a:t>TAB 04 · RESOLVE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DEDED"/>
                </a:solidFill>
                <a:latin typeface="Calibri"/>
              </a:rPr>
              <a:t>Purpose — value a fix on a bottleneck that actually formed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2926080" cy="64008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D9A4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A441"/>
                </a:solidFill>
                <a:latin typeface="Consolas"/>
              </a:rPr>
              <a:t>WORKSPACE 04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DEDED"/>
                </a:solidFill>
                <a:latin typeface="Calibri"/>
              </a:rPr>
              <a:t>Resolve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onsolas"/>
              </a:rPr>
              <a:t>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▸  </a:t>
            </a:r>
            <a:r>
              <a:rPr sz="1300" b="1">
                <a:solidFill>
                  <a:srgbClr val="EDEDED"/>
                </a:solidFill>
                <a:latin typeface="Calibri"/>
              </a:rPr>
              <a:t>Full re-simulation. </a:t>
            </a:r>
            <a:r>
              <a:rPr sz="1300" b="0">
                <a:solidFill>
                  <a:srgbClr val="9E9EA6"/>
                </a:solidFill>
                <a:latin typeface="Calibri"/>
              </a:rPr>
              <a:t>The line is re-run under identical random draws with the fix applied.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▸  </a:t>
            </a:r>
            <a:r>
              <a:rPr sz="1300" b="1">
                <a:solidFill>
                  <a:srgbClr val="EDEDED"/>
                </a:solidFill>
                <a:latin typeface="Calibri"/>
              </a:rPr>
              <a:t>Paired &amp; measured. </a:t>
            </a:r>
            <a:r>
              <a:rPr sz="1300" b="0">
                <a:solidFill>
                  <a:srgbClr val="9E9EA6"/>
                </a:solidFill>
                <a:latin typeface="Calibri"/>
              </a:rPr>
              <a:t>Current vs simulated on the same draws → cars gained is measured, not asserted.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▸  </a:t>
            </a:r>
            <a:r>
              <a:rPr sz="1300" b="1">
                <a:solidFill>
                  <a:srgbClr val="EDEDED"/>
                </a:solidFill>
                <a:latin typeface="Calibri"/>
              </a:rPr>
              <a:t>Right vs wrong fix. </a:t>
            </a:r>
            <a:r>
              <a:rPr sz="1300" b="0">
                <a:solidFill>
                  <a:srgbClr val="9E9EA6"/>
                </a:solidFill>
                <a:latin typeface="Calibri"/>
              </a:rPr>
              <a:t>De-bottleneck the true constraint: +34 cars; wrong station: +1.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▸  </a:t>
            </a:r>
            <a:r>
              <a:rPr sz="1300" b="1">
                <a:solidFill>
                  <a:srgbClr val="EDEDED"/>
                </a:solidFill>
                <a:latin typeface="Calibri"/>
              </a:rPr>
              <a:t>Includes the free levers. </a:t>
            </a:r>
            <a:r>
              <a:rPr sz="1300" b="0">
                <a:solidFill>
                  <a:srgbClr val="9E9EA6"/>
                </a:solidFill>
                <a:latin typeface="Calibri"/>
              </a:rPr>
              <a:t>'Do nothing' and 'reduce release rate' (CONWIP) are options.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onsolas"/>
              </a:rPr>
              <a:t>UNDER THE HOOD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D9A441"/>
                </a:solidFill>
                <a:latin typeface="Calibri"/>
              </a:rPr>
              <a:t>▸  </a:t>
            </a:r>
            <a:r>
              <a:rPr sz="1200" b="1">
                <a:solidFill>
                  <a:srgbClr val="EDEDED"/>
                </a:solidFill>
                <a:latin typeface="Calibri"/>
              </a:rPr>
              <a:t>Engine. </a:t>
            </a:r>
            <a:r>
              <a:rPr sz="1200" b="0">
                <a:solidFill>
                  <a:srgbClr val="9E9EA6"/>
                </a:solidFill>
                <a:latin typeface="Calibri"/>
              </a:rPr>
              <a:t>Common-Random-Numbers discrete-event re-run — no ML here.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D9A441"/>
                </a:solidFill>
                <a:latin typeface="Calibri"/>
              </a:rPr>
              <a:t>▸  </a:t>
            </a:r>
            <a:r>
              <a:rPr sz="1200" b="1">
                <a:solidFill>
                  <a:srgbClr val="EDEDED"/>
                </a:solidFill>
                <a:latin typeface="Calibri"/>
              </a:rPr>
              <a:t>Visibly running. </a:t>
            </a:r>
            <a:r>
              <a:rPr sz="1200" b="0">
                <a:solidFill>
                  <a:srgbClr val="9E9EA6"/>
                </a:solidFill>
                <a:latin typeface="Calibri"/>
              </a:rPr>
              <a:t>The flow graph animates the fixed line as it re-simulates.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600200"/>
            <a:ext cx="5212080" cy="466344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17780">
            <a:solidFill>
              <a:srgbClr val="D977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474720"/>
            <a:ext cx="5212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onsolas"/>
              </a:rPr>
              <a:t>▣  ADD SCREENSHOT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E9EA6"/>
                </a:solidFill>
                <a:latin typeface="Calibri"/>
              </a:rPr>
              <a:t>Resolve tab — animated simulated line + current-vs-simulated compare + cumulative-cars chart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onsolas"/>
              </a:rPr>
              <a:t>MODELS &amp;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DEDED"/>
                </a:solidFill>
                <a:latin typeface="Calibri"/>
              </a:rPr>
              <a:t>Trained where it helps; computed where it doesn't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1064240" cy="384048"/>
          </a:xfrm>
          <a:prstGeom prst="roundRect">
            <a:avLst>
              <a:gd name="adj" fmla="val 5000"/>
            </a:avLst>
          </a:prstGeom>
          <a:solidFill>
            <a:srgbClr val="222228"/>
          </a:solidFill>
          <a:ln w="9525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19656"/>
            <a:ext cx="2596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onsolas"/>
              </a:rPr>
              <a:t>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01568" y="1819656"/>
            <a:ext cx="5888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onsolas"/>
              </a:rPr>
              <a:t>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36607" y="1819656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onsolas"/>
              </a:rPr>
              <a:t>Trained?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21408"/>
            <a:ext cx="11064240" cy="384048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12848"/>
            <a:ext cx="2596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Current constraint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2212848"/>
            <a:ext cx="5888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Effective cycle time (proc ÷ availability) + blocked/starved walk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36607" y="2212848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No — arithmetic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05456"/>
            <a:ext cx="11064240" cy="384048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96896"/>
            <a:ext cx="2596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Economic ground truth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2596896"/>
            <a:ext cx="5888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Paired counterfactual re-sim (cars a speed-up actually yields)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6607" y="2596896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No — measured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889503"/>
            <a:ext cx="11064240" cy="384048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980944"/>
            <a:ext cx="2596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Forecast (Prevent)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2980944"/>
            <a:ext cx="5888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Multinomial logistic regression, 90 features, predict T+5 constraint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7" y="2980944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Yes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273552"/>
            <a:ext cx="11064240" cy="384048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364992"/>
            <a:ext cx="2596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Defect attribution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1568" y="3364992"/>
            <a:ext cx="5888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Genealogy lift × quality telemetry, tempered softmax over candidates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36607" y="3364992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No — inference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657600"/>
            <a:ext cx="11064240" cy="384048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749039"/>
            <a:ext cx="2596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Counterfactual (Resolve)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1568" y="3749039"/>
            <a:ext cx="5888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CRN paired discrete-event re-simulation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7" y="3749039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No — simulation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E9EA6"/>
                </a:solidFill>
                <a:latin typeface="Calibri"/>
              </a:rPr>
              <a:t>The forecast is trained against ECONOMIC ground truth (which station's speed-up makes more cars), never the detector's own statistic — so a good score is a real forecast, not a self-fulfilling identity.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onsolas"/>
              </a:rPr>
              <a:t>SENSORS SIMULATED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DEDED"/>
                </a:solidFill>
                <a:latin typeface="Calibri"/>
              </a:rPr>
              <a:t>Every station scans in/out throughput; internal coverage is heterogeneous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7680960" cy="420624"/>
          </a:xfrm>
          <a:prstGeom prst="roundRect">
            <a:avLst>
              <a:gd name="adj" fmla="val 5000"/>
            </a:avLst>
          </a:prstGeom>
          <a:solidFill>
            <a:srgbClr val="222228"/>
          </a:solidFill>
          <a:ln w="9525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73936"/>
            <a:ext cx="2322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onsolas"/>
              </a:rPr>
              <a:t>Station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7248" y="1773936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onsolas"/>
              </a:rPr>
              <a:t>Internal sensors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67728" y="1773936"/>
            <a:ext cx="1225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onsolas"/>
              </a:rPr>
              <a:t>Quality channel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12264"/>
            <a:ext cx="7680960" cy="420624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03704"/>
            <a:ext cx="2322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S1 Body Framing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2203704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current · vibration · temp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7728" y="2203704"/>
            <a:ext cx="1225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weld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32888"/>
            <a:ext cx="7680960" cy="420624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624328"/>
            <a:ext cx="2322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S2 Chassis Prep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7248" y="2624328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— (manual / dark)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7728" y="2624328"/>
            <a:ext cx="1225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953512"/>
            <a:ext cx="7680960" cy="420624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44952"/>
            <a:ext cx="2322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S3 Paint Shop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27248" y="3044952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temp · current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3044952"/>
            <a:ext cx="1225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coat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74136"/>
            <a:ext cx="7680960" cy="420624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465576"/>
            <a:ext cx="2322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S4 Powertrain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27248" y="3465576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torque · current · temp · vibration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3465576"/>
            <a:ext cx="1225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torque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794760"/>
            <a:ext cx="7680960" cy="420624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886200"/>
            <a:ext cx="2322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S5 Interior/Wiring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27248" y="3886200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current · voltage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886200"/>
            <a:ext cx="1225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215384"/>
            <a:ext cx="7680960" cy="420624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4306824"/>
            <a:ext cx="2322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S6 Battery / HV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7248" y="4306824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voltage (near-dark)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7728" y="4306824"/>
            <a:ext cx="1225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cell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636008"/>
            <a:ext cx="7680960" cy="420624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727448"/>
            <a:ext cx="2322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S7 Underbody Marriage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27248" y="4727448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torque · vibration · current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7728" y="4727448"/>
            <a:ext cx="1225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torque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056632"/>
            <a:ext cx="7680960" cy="420624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5148072"/>
            <a:ext cx="2322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S8 Trim Line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27248" y="5148072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torque · current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7728" y="5148072"/>
            <a:ext cx="1225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torque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477256"/>
            <a:ext cx="7680960" cy="420624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568696"/>
            <a:ext cx="2322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S9 Final / QA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27248" y="5568696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temp · defect gate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67728" y="5568696"/>
            <a:ext cx="1225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03920" y="1691640"/>
            <a:ext cx="3108960" cy="4297680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 w="9525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0" y="18288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onsolas"/>
              </a:rPr>
              <a:t>WHY IT MATTERS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2286000"/>
            <a:ext cx="27889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▸  </a:t>
            </a:r>
            <a:r>
              <a:rPr sz="1200" b="0">
                <a:solidFill>
                  <a:srgbClr val="9E9EA6"/>
                </a:solidFill>
                <a:latin typeface="Calibri"/>
              </a:rPr>
              <a:t>A defect can only be confirmed where a sensor exists — dark stations force inference.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▸  </a:t>
            </a:r>
            <a:r>
              <a:rPr sz="1200" b="0">
                <a:solidFill>
                  <a:srgbClr val="9E9EA6"/>
                </a:solidFill>
                <a:latin typeface="Calibri"/>
              </a:rPr>
              <a:t>Prevent only offers interventions a station's sensors support.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▸  </a:t>
            </a:r>
            <a:r>
              <a:rPr sz="1200" b="0">
                <a:solidFill>
                  <a:srgbClr val="9E9EA6"/>
                </a:solidFill>
                <a:latin typeface="Calibri"/>
              </a:rPr>
              <a:t>Provenance (measured vs inferred) travels with every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onsolas"/>
              </a:rPr>
              <a:t>FAULTS &amp; COMPLICATIONS SIMULATED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DEDED"/>
                </a:solidFill>
                <a:latin typeface="Calibri"/>
              </a:rPr>
              <a:t>Each fault maps to a distinct signal — and a distinct fix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1064240" cy="457200"/>
          </a:xfrm>
          <a:prstGeom prst="roundRect">
            <a:avLst>
              <a:gd name="adj" fmla="val 5000"/>
            </a:avLst>
          </a:prstGeom>
          <a:solidFill>
            <a:srgbClr val="222228"/>
          </a:solidFill>
          <a:ln w="9525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19656"/>
            <a:ext cx="3785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onsolas"/>
              </a:rPr>
              <a:t>Fault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0288" y="1819656"/>
            <a:ext cx="40599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onsolas"/>
              </a:rPr>
              <a:t>Moves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6528" y="1819656"/>
            <a:ext cx="2779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onsolas"/>
              </a:rPr>
              <a:t>Fix that works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11064240" cy="457200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86000"/>
            <a:ext cx="3785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Gradual / sudden slowdown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286000"/>
            <a:ext cx="40599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cycle time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2286000"/>
            <a:ext cx="2779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add operator (capacity)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11064240" cy="45720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43200"/>
            <a:ext cx="3785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Outage (station down)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743200"/>
            <a:ext cx="40599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availability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2743200"/>
            <a:ext cx="2779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planned stop / reroute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108960"/>
            <a:ext cx="11064240" cy="457200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0400"/>
            <a:ext cx="3785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Overheating (complication)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200400"/>
            <a:ext cx="40599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temperature ↑ (leading), then 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96528" y="3200400"/>
            <a:ext cx="2779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cool the machine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66160"/>
            <a:ext cx="11064240" cy="45720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657600"/>
            <a:ext cx="3785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Tool wear (complication)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3657600"/>
            <a:ext cx="40599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vibration + current ↑, then cycle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3657600"/>
            <a:ext cx="2779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service / re-seat tool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23360"/>
            <a:ext cx="11064240" cy="457200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114800"/>
            <a:ext cx="3785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DEDED"/>
                </a:solidFill>
                <a:latin typeface="Calibri"/>
              </a:rPr>
              <a:t>Tool drift (quality)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0288" y="4114800"/>
            <a:ext cx="40599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quality channel out of spec (NO flow change)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96528" y="4114800"/>
            <a:ext cx="2779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E9EA6"/>
                </a:solidFill>
                <a:latin typeface="Calibri"/>
              </a:rPr>
              <a:t>re-calibrate the tool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61772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E9EA6"/>
                </a:solidFill>
                <a:latin typeface="Calibri"/>
              </a:rPr>
              <a:t>A mechanical slowdown does NOT heat a motor — so cooling it does nothing. Health signals rise only from a complication, and each is a </a:t>
            </a:r>
            <a:r>
              <a:rPr sz="1300" b="1">
                <a:solidFill>
                  <a:srgbClr val="EDEDED"/>
                </a:solidFill>
                <a:latin typeface="Calibri"/>
              </a:rPr>
              <a:t>leading indicator</a:t>
            </a:r>
            <a:r>
              <a:rPr sz="1300" b="0">
                <a:solidFill>
                  <a:srgbClr val="9E9EA6"/>
                </a:solidFill>
                <a:latin typeface="Calibri"/>
              </a:rPr>
              <a:t>: the signal rises first, the slowdown follows, so Prevent can act before the constraint forms. This is what makes the fixes coherent instead of a black box that reacts to any change.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onsolas"/>
              </a:rPr>
              <a:t>MEASURED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DEDED"/>
                </a:solidFill>
                <a:latin typeface="Calibri"/>
              </a:rPr>
              <a:t>Reproducible bit-for-bit from fixed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615184" cy="118872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965960"/>
            <a:ext cx="23225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D97757"/>
                </a:solidFill>
                <a:latin typeface="Consolas"/>
              </a:rPr>
              <a:t>~291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578608"/>
            <a:ext cx="23225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E9EA6"/>
                </a:solidFill>
                <a:latin typeface="Consolas"/>
              </a:rPr>
              <a:t>UPH HEALTHY (STD 1.6)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8144" y="1828800"/>
            <a:ext cx="2615184" cy="118872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84448" y="1965960"/>
            <a:ext cx="23225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5FB06A"/>
                </a:solidFill>
                <a:latin typeface="Consolas"/>
              </a:rPr>
              <a:t>~1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84448" y="2578608"/>
            <a:ext cx="23225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E9EA6"/>
                </a:solidFill>
                <a:latin typeface="Consolas"/>
              </a:rPr>
              <a:t>CAR NOISE FLOOR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828800"/>
            <a:ext cx="2615184" cy="118872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965960"/>
            <a:ext cx="23225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FA8D8"/>
                </a:solidFill>
                <a:latin typeface="Consolas"/>
              </a:rPr>
              <a:t>1.00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2578608"/>
            <a:ext cx="23225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E9EA6"/>
                </a:solidFill>
                <a:latin typeface="Consolas"/>
              </a:rPr>
              <a:t>DETECTOR TOP-1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34272" y="1828800"/>
            <a:ext cx="2615184" cy="118872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0576" y="1965960"/>
            <a:ext cx="23225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5FB06A"/>
                </a:solidFill>
                <a:latin typeface="Consolas"/>
              </a:rPr>
              <a:t>0.0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0576" y="2578608"/>
            <a:ext cx="23225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E9EA6"/>
                </a:solidFill>
                <a:latin typeface="Consolas"/>
              </a:rPr>
              <a:t>DETECTOR REGRET (CARS)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46120"/>
            <a:ext cx="2615184" cy="118872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383279"/>
            <a:ext cx="23225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D97757"/>
                </a:solidFill>
                <a:latin typeface="Consolas"/>
              </a:rPr>
              <a:t>~89%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995928"/>
            <a:ext cx="23225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E9EA6"/>
                </a:solidFill>
                <a:latin typeface="Consolas"/>
              </a:rPr>
              <a:t>FORECAST HOLDOUT (T+5)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38144" y="3246120"/>
            <a:ext cx="2615184" cy="118872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84448" y="3383279"/>
            <a:ext cx="23225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D9A441"/>
                </a:solidFill>
                <a:latin typeface="Consolas"/>
              </a:rPr>
              <a:t>96%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3995928"/>
            <a:ext cx="23225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E9EA6"/>
                </a:solidFill>
                <a:latin typeface="Consolas"/>
              </a:rPr>
              <a:t>SPARSE-SENSING AGREEMENT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246120"/>
            <a:ext cx="2615184" cy="118872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3383279"/>
            <a:ext cx="23225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FA8D8"/>
                </a:solidFill>
                <a:latin typeface="Consola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3995928"/>
            <a:ext cx="23225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E9EA6"/>
                </a:solidFill>
                <a:latin typeface="Consolas"/>
              </a:rPr>
              <a:t>DEFECT-ORIGIN STATIONS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34272" y="3246120"/>
            <a:ext cx="2615184" cy="118872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0576" y="3383279"/>
            <a:ext cx="23225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5FB06A"/>
                </a:solidFill>
                <a:latin typeface="Consolas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0576" y="3995928"/>
            <a:ext cx="23225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E9EA6"/>
                </a:solidFill>
                <a:latin typeface="Consolas"/>
              </a:rPr>
              <a:t>THROUGHPUT COST OF A DEFECT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846320"/>
            <a:ext cx="10972800" cy="109728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9834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E9EA6"/>
                </a:solidFill>
                <a:latin typeface="Calibri"/>
              </a:rPr>
              <a:t>128 simulated shifts · ~6,400 windowed samples split by run · every defect origin diagnosed with the true culprit ranked #1 · full data + model regenerate in one command.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onsolas"/>
              </a:rPr>
              <a:t>TECH STACK &amp; HOW TO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DEDED"/>
                </a:solidFill>
                <a:latin typeface="Calibri"/>
              </a:rPr>
              <a:t>Pure Python + a zero-dependency web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50" b="1">
                <a:solidFill>
                  <a:srgbClr val="D97757"/>
                </a:solidFill>
                <a:latin typeface="Calibri"/>
              </a:rPr>
              <a:t>▸  </a:t>
            </a:r>
            <a:r>
              <a:rPr sz="1350" b="1">
                <a:solidFill>
                  <a:srgbClr val="EDEDED"/>
                </a:solidFill>
                <a:latin typeface="Calibri"/>
              </a:rPr>
              <a:t>Backend. </a:t>
            </a:r>
            <a:r>
              <a:rPr sz="1350" b="0">
                <a:solidFill>
                  <a:srgbClr val="9E9EA6"/>
                </a:solidFill>
                <a:latin typeface="Calibri"/>
              </a:rPr>
              <a:t>Python 3.12 · custom discrete-event simulator · scikit-learn (logistic) · FastAPI + Server-Sent Events.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50" b="1">
                <a:solidFill>
                  <a:srgbClr val="D97757"/>
                </a:solidFill>
                <a:latin typeface="Calibri"/>
              </a:rPr>
              <a:t>▸  </a:t>
            </a:r>
            <a:r>
              <a:rPr sz="1350" b="1">
                <a:solidFill>
                  <a:srgbClr val="EDEDED"/>
                </a:solidFill>
                <a:latin typeface="Calibri"/>
              </a:rPr>
              <a:t>Frontend. </a:t>
            </a:r>
            <a:r>
              <a:rPr sz="1350" b="0">
                <a:solidFill>
                  <a:srgbClr val="9E9EA6"/>
                </a:solidFill>
                <a:latin typeface="Calibri"/>
              </a:rPr>
              <a:t>Vanilla JS + inline SVG — no Node build; runs anywhere the Python backend does.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50" b="1">
                <a:solidFill>
                  <a:srgbClr val="D97757"/>
                </a:solidFill>
                <a:latin typeface="Calibri"/>
              </a:rPr>
              <a:t>▸  </a:t>
            </a:r>
            <a:r>
              <a:rPr sz="1350" b="1">
                <a:solidFill>
                  <a:srgbClr val="EDEDED"/>
                </a:solidFill>
                <a:latin typeface="Calibri"/>
              </a:rPr>
              <a:t>Reproducible. </a:t>
            </a:r>
            <a:r>
              <a:rPr sz="1350" b="0">
                <a:solidFill>
                  <a:srgbClr val="9E9EA6"/>
                </a:solidFill>
                <a:latin typeface="Calibri"/>
              </a:rPr>
              <a:t>Seeded generators; one-command data+model rebuild; pytest invariant suite (10/10).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50" b="1">
                <a:solidFill>
                  <a:srgbClr val="D97757"/>
                </a:solidFill>
                <a:latin typeface="Calibri"/>
              </a:rPr>
              <a:t>▸  </a:t>
            </a:r>
            <a:r>
              <a:rPr sz="1350" b="1">
                <a:solidFill>
                  <a:srgbClr val="EDEDED"/>
                </a:solidFill>
                <a:latin typeface="Calibri"/>
              </a:rPr>
              <a:t>Advises, never acts. </a:t>
            </a:r>
            <a:r>
              <a:rPr sz="1350" b="0">
                <a:solidFill>
                  <a:srgbClr val="9E9EA6"/>
                </a:solidFill>
                <a:latin typeface="Calibri"/>
              </a:rPr>
              <a:t>The twin recommends; it never writes set-points to line control.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0" y="1737360"/>
            <a:ext cx="4389120" cy="2743200"/>
          </a:xfrm>
          <a:prstGeom prst="roundRect">
            <a:avLst>
              <a:gd name="adj" fmla="val 5000"/>
            </a:avLst>
          </a:prstGeom>
          <a:solidFill>
            <a:srgbClr val="141416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52360" y="190195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onsolas"/>
              </a:rPr>
              <a:t>RUN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331720"/>
            <a:ext cx="4023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FB06A"/>
                </a:solidFill>
                <a:latin typeface="Consolas"/>
              </a:rPr>
              <a:t>./run_demo.ps1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E9EA6"/>
                </a:solidFill>
                <a:latin typeface="Calibri"/>
              </a:rPr>
              <a:t>then open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DEDED"/>
                </a:solidFill>
                <a:latin typeface="Consolas"/>
              </a:rPr>
              <a:t>http://localhost:8000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9E9EA6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E9EA6"/>
                </a:solidFill>
                <a:latin typeface="Calibri"/>
              </a:rPr>
              <a:t>regenerate model: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DEDED"/>
                </a:solidFill>
                <a:latin typeface="Consolas"/>
              </a:rPr>
              <a:t>python -m scripts.\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DEDED"/>
                </a:solidFill>
                <a:latin typeface="Consolas"/>
              </a:rPr>
              <a:t>generate_and_train --regen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DEDED"/>
                </a:solidFill>
                <a:latin typeface="Calibri"/>
              </a:rPr>
              <a:t>Simulate. Forecast. Trace. Resolve.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9E9EA6"/>
                </a:solidFill>
                <a:latin typeface="Calibri"/>
              </a:rPr>
              <a:t>A digital twin that doesn't just visualise the line — it predicts the failure, finds the defect, and prices the fix, live.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4389120"/>
            <a:ext cx="11064240" cy="1005840"/>
          </a:xfrm>
          <a:prstGeom prst="roundRect">
            <a:avLst>
              <a:gd name="adj" fmla="val 5000"/>
            </a:avLst>
          </a:prstGeom>
          <a:solidFill>
            <a:srgbClr val="1C1C20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7200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DEDED"/>
                </a:solidFill>
                <a:latin typeface="Calibri"/>
              </a:rPr>
              <a:t>TwinForge</a:t>
            </a:r>
            <a:r>
              <a:rPr sz="1400" b="0">
                <a:solidFill>
                  <a:srgbClr val="9E9EA6"/>
                </a:solidFill>
                <a:latin typeface="Calibri"/>
              </a:rPr>
              <a:t>  ·  Team TwinForge, IIT Madras  ·  Accenture Innovation Challenge 2026 — PS4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52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